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81" r:id="rId6"/>
    <p:sldId id="270" r:id="rId7"/>
    <p:sldId id="282" r:id="rId8"/>
    <p:sldId id="283" r:id="rId9"/>
    <p:sldId id="284" r:id="rId10"/>
    <p:sldId id="285" r:id="rId11"/>
    <p:sldId id="274" r:id="rId12"/>
    <p:sldId id="275" r:id="rId13"/>
    <p:sldId id="276" r:id="rId14"/>
    <p:sldId id="277" r:id="rId15"/>
    <p:sldId id="272" r:id="rId16"/>
    <p:sldId id="278" r:id="rId17"/>
    <p:sldId id="279" r:id="rId18"/>
    <p:sldId id="280" r:id="rId19"/>
    <p:sldId id="260" r:id="rId20"/>
    <p:sldId id="261" r:id="rId21"/>
    <p:sldId id="269" r:id="rId22"/>
    <p:sldId id="263" r:id="rId23"/>
    <p:sldId id="264" r:id="rId24"/>
    <p:sldId id="265" r:id="rId25"/>
    <p:sldId id="266" r:id="rId26"/>
    <p:sldId id="267" r:id="rId27"/>
    <p:sldId id="286" r:id="rId28"/>
    <p:sldId id="268" r:id="rId2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54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Rectangle 6">
            <a:extLst>
              <a:ext uri="{FF2B5EF4-FFF2-40B4-BE49-F238E27FC236}">
                <a16:creationId xmlns:a16="http://schemas.microsoft.com/office/drawing/2014/main" id="{9F92499E-4E52-1229-F1B9-4EA9C540F587}"/>
              </a:ext>
            </a:extLst>
          </p:cNvPr>
          <p:cNvSpPr/>
          <p:nvPr userDrawn="1"/>
        </p:nvSpPr>
        <p:spPr>
          <a:xfrm>
            <a:off x="11821272" y="0"/>
            <a:ext cx="343834" cy="6858000"/>
          </a:xfrm>
          <a:prstGeom prst="rect">
            <a:avLst/>
          </a:prstGeom>
          <a:solidFill>
            <a:srgbClr val="00B0F0"/>
          </a:solidFill>
          <a:scene3d>
            <a:camera prst="orthographicFront"/>
            <a:lightRig rig="threePt" dir="t"/>
          </a:scene3d>
          <a:sp3d>
            <a:bevelT/>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huggingface.co/?utm_source=chatgpt.com" TargetMode="External"/><Relationship Id="rId2" Type="http://schemas.openxmlformats.org/officeDocument/2006/relationships/hyperlink" Target="https://openai.com/?utm_source=chatgpt.com" TargetMode="External"/><Relationship Id="rId1" Type="http://schemas.openxmlformats.org/officeDocument/2006/relationships/slideLayout" Target="../slideLayouts/slideLayout7.xml"/><Relationship Id="rId6" Type="http://schemas.openxmlformats.org/officeDocument/2006/relationships/hyperlink" Target="https://ai.google.dev/?utm_source=chatgpt.com" TargetMode="External"/><Relationship Id="rId5" Type="http://schemas.openxmlformats.org/officeDocument/2006/relationships/hyperlink" Target="https://cohere.com/?utm_source=chatgpt.com" TargetMode="External"/><Relationship Id="rId4" Type="http://schemas.openxmlformats.org/officeDocument/2006/relationships/hyperlink" Target="https://huggingface.co/BAAI?utm_source=chatgpt.com"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azure.microsoft.com/products/ai-services/ai-search?utm_source=chatgpt.com" TargetMode="External"/><Relationship Id="rId3" Type="http://schemas.openxmlformats.org/officeDocument/2006/relationships/hyperlink" Target="https://www.trychroma.com/?utm_source=chatgpt.com" TargetMode="External"/><Relationship Id="rId7" Type="http://schemas.openxmlformats.org/officeDocument/2006/relationships/hyperlink" Target="https://github.com/facebookresearch/faiss?utm_source=chatgpt.com" TargetMode="External"/><Relationship Id="rId2" Type="http://schemas.openxmlformats.org/officeDocument/2006/relationships/hyperlink" Target="https://www.pinecone.io/?utm_source=chatgpt.com" TargetMode="External"/><Relationship Id="rId1" Type="http://schemas.openxmlformats.org/officeDocument/2006/relationships/slideLayout" Target="../slideLayouts/slideLayout7.xml"/><Relationship Id="rId6" Type="http://schemas.openxmlformats.org/officeDocument/2006/relationships/hyperlink" Target="https://milvus.io/?utm_source=chatgpt.com" TargetMode="External"/><Relationship Id="rId5" Type="http://schemas.openxmlformats.org/officeDocument/2006/relationships/hyperlink" Target="https://qdrant.tech/?utm_source=chatgpt.com" TargetMode="External"/><Relationship Id="rId4" Type="http://schemas.openxmlformats.org/officeDocument/2006/relationships/hyperlink" Target="https://weaviate.io/?utm_source=chatgpt.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llamaindex.ai/?utm_source=chatgpt.com" TargetMode="External"/><Relationship Id="rId2" Type="http://schemas.openxmlformats.org/officeDocument/2006/relationships/hyperlink" Target="https://www.langchain.com/?utm_source=chatgpt.com" TargetMode="External"/><Relationship Id="rId1" Type="http://schemas.openxmlformats.org/officeDocument/2006/relationships/slideLayout" Target="../slideLayouts/slideLayout7.xml"/><Relationship Id="rId5" Type="http://schemas.openxmlformats.org/officeDocument/2006/relationships/hyperlink" Target="https://learn.microsoft.com/semantic-kernel/overview/?utm_source=chatgpt.com" TargetMode="External"/><Relationship Id="rId4" Type="http://schemas.openxmlformats.org/officeDocument/2006/relationships/hyperlink" Target="https://haystack.deepset.ai/?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sbert.net/?utm_source=chatgpt.com" TargetMode="External"/><Relationship Id="rId2" Type="http://schemas.openxmlformats.org/officeDocument/2006/relationships/hyperlink" Target="https://cohere.com/rerank?utm_source=chatgpt.com" TargetMode="External"/><Relationship Id="rId1" Type="http://schemas.openxmlformats.org/officeDocument/2006/relationships/slideLayout" Target="../slideLayouts/slideLayout7.xml"/><Relationship Id="rId4" Type="http://schemas.openxmlformats.org/officeDocument/2006/relationships/hyperlink" Target="https://jina.ai/?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0080" y="1828800"/>
            <a:ext cx="11091672" cy="1323439"/>
          </a:xfrm>
          <a:prstGeom prst="rect">
            <a:avLst/>
          </a:prstGeom>
          <a:noFill/>
        </p:spPr>
        <p:txBody>
          <a:bodyPr wrap="square">
            <a:spAutoFit/>
          </a:bodyPr>
          <a:lstStyle/>
          <a:p>
            <a:pPr algn="ctr">
              <a:spcBef>
                <a:spcPts val="0"/>
              </a:spcBef>
            </a:pPr>
            <a:r>
              <a:rPr sz="4000" b="1" dirty="0">
                <a:solidFill>
                  <a:srgbClr val="1C395E"/>
                </a:solidFill>
                <a:latin typeface="Aptos Narrow"/>
              </a:rPr>
              <a:t>SIGMA</a:t>
            </a:r>
            <a:r>
              <a:rPr lang="en-IN" sz="4000" b="1" dirty="0">
                <a:solidFill>
                  <a:srgbClr val="1C395E"/>
                </a:solidFill>
                <a:latin typeface="Aptos Narrow"/>
              </a:rPr>
              <a:t> DATATECH</a:t>
            </a:r>
            <a:r>
              <a:rPr sz="4000" b="1" dirty="0">
                <a:solidFill>
                  <a:srgbClr val="1C395E"/>
                </a:solidFill>
                <a:latin typeface="Aptos Narrow"/>
              </a:rPr>
              <a:t>
From College Project to Production RAG</a:t>
            </a:r>
          </a:p>
        </p:txBody>
      </p:sp>
      <p:sp>
        <p:nvSpPr>
          <p:cNvPr id="6" name="TextBox 5"/>
          <p:cNvSpPr txBox="1"/>
          <p:nvPr/>
        </p:nvSpPr>
        <p:spPr>
          <a:xfrm>
            <a:off x="457200" y="3840480"/>
            <a:ext cx="11274552" cy="430887"/>
          </a:xfrm>
          <a:prstGeom prst="rect">
            <a:avLst/>
          </a:prstGeom>
          <a:noFill/>
        </p:spPr>
        <p:txBody>
          <a:bodyPr wrap="square">
            <a:spAutoFit/>
          </a:bodyPr>
          <a:lstStyle/>
          <a:p>
            <a:pPr algn="ctr">
              <a:spcBef>
                <a:spcPts val="0"/>
              </a:spcBef>
            </a:pPr>
            <a:r>
              <a:rPr sz="2200" b="0" dirty="0">
                <a:solidFill>
                  <a:srgbClr val="454545"/>
                </a:solidFill>
                <a:latin typeface="Aptos Narrow"/>
              </a:rPr>
              <a:t>Day </a:t>
            </a:r>
            <a:r>
              <a:rPr lang="en-IN" sz="2200" b="0" dirty="0">
                <a:solidFill>
                  <a:srgbClr val="454545"/>
                </a:solidFill>
                <a:latin typeface="Aptos Narrow"/>
              </a:rPr>
              <a:t>3</a:t>
            </a:r>
            <a:r>
              <a:rPr sz="2200" b="0" dirty="0">
                <a:solidFill>
                  <a:srgbClr val="454545"/>
                </a:solidFill>
                <a:latin typeface="Aptos Narrow"/>
              </a:rPr>
              <a:t> · </a:t>
            </a:r>
            <a:r>
              <a:rPr lang="en-IN" sz="2200" b="0" dirty="0">
                <a:solidFill>
                  <a:srgbClr val="454545"/>
                </a:solidFill>
                <a:latin typeface="Aptos Narrow"/>
              </a:rPr>
              <a:t> SAMSUNG GENAI FOR SRM KTR - </a:t>
            </a:r>
            <a:r>
              <a:rPr sz="2200" b="0" dirty="0">
                <a:solidFill>
                  <a:srgbClr val="454545"/>
                </a:solidFill>
                <a:latin typeface="Aptos Narrow"/>
              </a:rPr>
              <a:t> </a:t>
            </a:r>
            <a:r>
              <a:rPr lang="en-IN" sz="2200" b="0" dirty="0">
                <a:solidFill>
                  <a:srgbClr val="454545"/>
                </a:solidFill>
                <a:latin typeface="Aptos Narrow"/>
              </a:rPr>
              <a:t>RAG CONCEPTS</a:t>
            </a:r>
            <a:endParaRPr sz="2200" b="0" dirty="0">
              <a:solidFill>
                <a:srgbClr val="454545"/>
              </a:solidFill>
              <a:latin typeface="Apto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SIGMA-BRAIN — The CTO's Brief</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0"/>
            <a:ext cx="11274552" cy="5352747"/>
          </a:xfrm>
          <a:prstGeom prst="rect">
            <a:avLst/>
          </a:prstGeom>
          <a:noFill/>
        </p:spPr>
        <p:txBody>
          <a:bodyPr wrap="square">
            <a:spAutoFit/>
          </a:bodyPr>
          <a:lstStyle/>
          <a:p>
            <a:pPr algn="l">
              <a:spcBef>
                <a:spcPts val="0"/>
              </a:spcBef>
            </a:pPr>
            <a:r>
              <a:rPr sz="2800" b="1" dirty="0">
                <a:solidFill>
                  <a:srgbClr val="1C395E"/>
                </a:solidFill>
                <a:latin typeface="Aptos Narrow"/>
              </a:rPr>
              <a:t>The situation at Sigma </a:t>
            </a:r>
            <a:r>
              <a:rPr sz="2800" b="1" dirty="0" err="1">
                <a:solidFill>
                  <a:srgbClr val="1C395E"/>
                </a:solidFill>
                <a:latin typeface="Aptos Narrow"/>
              </a:rPr>
              <a:t>DataTech</a:t>
            </a:r>
            <a:r>
              <a:rPr sz="2800" b="1" dirty="0">
                <a:solidFill>
                  <a:srgbClr val="1C395E"/>
                </a:solidFill>
                <a:latin typeface="Aptos Narrow"/>
              </a:rPr>
              <a:t>:</a:t>
            </a:r>
          </a:p>
          <a:p>
            <a:pPr algn="l">
              <a:spcBef>
                <a:spcPts val="90"/>
              </a:spcBef>
            </a:pPr>
            <a:r>
              <a:rPr sz="2800" b="0" dirty="0">
                <a:solidFill>
                  <a:srgbClr val="1A1A1A"/>
                </a:solidFill>
                <a:latin typeface="Aptos Narrow"/>
              </a:rPr>
              <a:t>  •  523 engineers across Bangalore, Hyderabad, Chennai</a:t>
            </a:r>
          </a:p>
          <a:p>
            <a:pPr algn="l">
              <a:spcBef>
                <a:spcPts val="90"/>
              </a:spcBef>
            </a:pPr>
            <a:r>
              <a:rPr sz="2800" b="0" dirty="0">
                <a:solidFill>
                  <a:srgbClr val="1A1A1A"/>
                </a:solidFill>
                <a:latin typeface="Aptos Narrow"/>
              </a:rPr>
              <a:t>  •  3 years of knowledge: 12,000 Confluence pages, 3,500 Jira tickets, 800 runbooks, 2,400 Snowflake table docs</a:t>
            </a:r>
          </a:p>
          <a:p>
            <a:pPr algn="l">
              <a:spcBef>
                <a:spcPts val="90"/>
              </a:spcBef>
            </a:pPr>
            <a:r>
              <a:rPr sz="2800" b="0" dirty="0">
                <a:solidFill>
                  <a:srgbClr val="1A1A1A"/>
                </a:solidFill>
                <a:latin typeface="Aptos Narrow"/>
              </a:rPr>
              <a:t>  •  Senior DEs spend 4.5 hours/week answering the same 200 questions from new joiners</a:t>
            </a:r>
          </a:p>
          <a:p>
            <a:pPr algn="l">
              <a:spcBef>
                <a:spcPts val="90"/>
              </a:spcBef>
            </a:pPr>
            <a:r>
              <a:rPr sz="2800" b="0" dirty="0">
                <a:solidFill>
                  <a:srgbClr val="1A1A1A"/>
                </a:solidFill>
                <a:latin typeface="Aptos Narrow"/>
              </a:rPr>
              <a:t>  •  That's 2,300 engineering hours/year  —  ₹4.2 crore in lost productivity</a:t>
            </a:r>
          </a:p>
          <a:p>
            <a:pPr algn="l">
              <a:spcBef>
                <a:spcPts val="40"/>
              </a:spcBef>
            </a:pPr>
            <a:endParaRPr sz="2800" b="0" dirty="0">
              <a:solidFill>
                <a:srgbClr val="1A1A1A"/>
              </a:solidFill>
              <a:latin typeface="Aptos Narrow"/>
            </a:endParaRPr>
          </a:p>
          <a:p>
            <a:pPr algn="l">
              <a:spcBef>
                <a:spcPts val="90"/>
              </a:spcBef>
            </a:pPr>
            <a:r>
              <a:rPr sz="2800" b="1" dirty="0">
                <a:solidFill>
                  <a:srgbClr val="1C395E"/>
                </a:solidFill>
                <a:latin typeface="Aptos Narrow"/>
              </a:rPr>
              <a:t>The ask from the CTO:</a:t>
            </a:r>
          </a:p>
          <a:p>
            <a:pPr algn="l">
              <a:spcBef>
                <a:spcPts val="90"/>
              </a:spcBef>
            </a:pPr>
            <a:r>
              <a:rPr sz="2800" b="0" dirty="0">
                <a:solidFill>
                  <a:srgbClr val="1A1A1A"/>
                </a:solidFill>
                <a:latin typeface="Aptos Narrow"/>
              </a:rPr>
              <a:t>  •  Build SIGMA-BRAIN: an AI assistant that answers any question about Sigma's data infrastructure</a:t>
            </a:r>
          </a:p>
          <a:p>
            <a:pPr algn="l">
              <a:spcBef>
                <a:spcPts val="90"/>
              </a:spcBef>
            </a:pPr>
            <a:r>
              <a:rPr sz="2800" b="0" dirty="0">
                <a:solidFill>
                  <a:srgbClr val="1A1A1A"/>
                </a:solidFill>
                <a:latin typeface="Aptos Narrow"/>
              </a:rPr>
              <a:t>  •  Accurately. Immediately. Without asking anyone.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Three Options on the Table — One Survives</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612915313"/>
              </p:ext>
            </p:extLst>
          </p:nvPr>
        </p:nvGraphicFramePr>
        <p:xfrm>
          <a:off x="457200" y="1170432"/>
          <a:ext cx="11274551" cy="5093208"/>
        </p:xfrm>
        <a:graphic>
          <a:graphicData uri="http://schemas.openxmlformats.org/drawingml/2006/table">
            <a:tbl>
              <a:tblPr firstRow="1" bandRow="1">
                <a:tableStyleId>{5C22544A-7EE6-4342-B048-85BDC9FD1C3A}</a:tableStyleId>
              </a:tblPr>
              <a:tblGrid>
                <a:gridCol w="2067001">
                  <a:extLst>
                    <a:ext uri="{9D8B030D-6E8A-4147-A177-3AD203B41FA5}">
                      <a16:colId xmlns:a16="http://schemas.microsoft.com/office/drawing/2014/main" val="20000"/>
                    </a:ext>
                  </a:extLst>
                </a:gridCol>
                <a:gridCol w="3758184">
                  <a:extLst>
                    <a:ext uri="{9D8B030D-6E8A-4147-A177-3AD203B41FA5}">
                      <a16:colId xmlns:a16="http://schemas.microsoft.com/office/drawing/2014/main" val="20001"/>
                    </a:ext>
                  </a:extLst>
                </a:gridCol>
                <a:gridCol w="5449366">
                  <a:extLst>
                    <a:ext uri="{9D8B030D-6E8A-4147-A177-3AD203B41FA5}">
                      <a16:colId xmlns:a16="http://schemas.microsoft.com/office/drawing/2014/main" val="20002"/>
                    </a:ext>
                  </a:extLst>
                </a:gridCol>
              </a:tblGrid>
              <a:tr h="1273302">
                <a:tc>
                  <a:txBody>
                    <a:bodyPr/>
                    <a:lstStyle/>
                    <a:p>
                      <a:pPr algn="l"/>
                      <a:r>
                        <a:rPr sz="2400" b="1">
                          <a:solidFill>
                            <a:srgbClr val="FFFFFF"/>
                          </a:solidFill>
                          <a:latin typeface="Aptos Narrow"/>
                        </a:rPr>
                        <a:t>Option</a:t>
                      </a:r>
                    </a:p>
                  </a:txBody>
                  <a:tcPr marL="64008" marT="64008" marB="64008">
                    <a:solidFill>
                      <a:srgbClr val="1C395E"/>
                    </a:solidFill>
                  </a:tcPr>
                </a:tc>
                <a:tc>
                  <a:txBody>
                    <a:bodyPr/>
                    <a:lstStyle/>
                    <a:p>
                      <a:pPr algn="l"/>
                      <a:r>
                        <a:rPr sz="2400" b="1">
                          <a:solidFill>
                            <a:srgbClr val="FFFFFF"/>
                          </a:solidFill>
                          <a:latin typeface="Aptos Narrow"/>
                        </a:rPr>
                        <a:t>What It Means</a:t>
                      </a:r>
                    </a:p>
                  </a:txBody>
                  <a:tcPr marL="64008" marT="64008" marB="64008">
                    <a:solidFill>
                      <a:srgbClr val="1C395E"/>
                    </a:solidFill>
                  </a:tcPr>
                </a:tc>
                <a:tc>
                  <a:txBody>
                    <a:bodyPr/>
                    <a:lstStyle/>
                    <a:p>
                      <a:pPr algn="l"/>
                      <a:r>
                        <a:rPr sz="2400" b="1">
                          <a:solidFill>
                            <a:srgbClr val="FFFFFF"/>
                          </a:solidFill>
                          <a:latin typeface="Aptos Narrow"/>
                        </a:rPr>
                        <a:t>Why It Fails</a:t>
                      </a:r>
                    </a:p>
                  </a:txBody>
                  <a:tcPr marL="64008" marT="64008" marB="64008">
                    <a:solidFill>
                      <a:srgbClr val="1C395E"/>
                    </a:solidFill>
                  </a:tcPr>
                </a:tc>
                <a:extLst>
                  <a:ext uri="{0D108BD9-81ED-4DB2-BD59-A6C34878D82A}">
                    <a16:rowId xmlns:a16="http://schemas.microsoft.com/office/drawing/2014/main" val="10000"/>
                  </a:ext>
                </a:extLst>
              </a:tr>
              <a:tr h="1273302">
                <a:tc>
                  <a:txBody>
                    <a:bodyPr/>
                    <a:lstStyle/>
                    <a:p>
                      <a:pPr algn="l"/>
                      <a:r>
                        <a:rPr sz="2400" b="1">
                          <a:solidFill>
                            <a:srgbClr val="1A1A1A"/>
                          </a:solidFill>
                          <a:latin typeface="Aptos Narrow"/>
                        </a:rPr>
                        <a:t>A — Fine-tune</a:t>
                      </a:r>
                    </a:p>
                  </a:txBody>
                  <a:tcPr marL="54864" marT="54864" marB="54864">
                    <a:solidFill>
                      <a:srgbClr val="F0F4FF"/>
                    </a:solidFill>
                  </a:tcPr>
                </a:tc>
                <a:tc>
                  <a:txBody>
                    <a:bodyPr/>
                    <a:lstStyle/>
                    <a:p>
                      <a:pPr algn="l"/>
                      <a:r>
                        <a:rPr sz="2400" b="0">
                          <a:solidFill>
                            <a:srgbClr val="1A1A1A"/>
                          </a:solidFill>
                          <a:latin typeface="Aptos Narrow"/>
                        </a:rPr>
                        <a:t>Train Claude on all internal docs</a:t>
                      </a:r>
                    </a:p>
                  </a:txBody>
                  <a:tcPr marL="54864" marT="54864" marB="54864">
                    <a:solidFill>
                      <a:srgbClr val="F0F4FF"/>
                    </a:solidFill>
                  </a:tcPr>
                </a:tc>
                <a:tc>
                  <a:txBody>
                    <a:bodyPr/>
                    <a:lstStyle/>
                    <a:p>
                      <a:pPr algn="l"/>
                      <a:r>
                        <a:rPr sz="2400" b="0" dirty="0">
                          <a:solidFill>
                            <a:srgbClr val="1A1A1A"/>
                          </a:solidFill>
                          <a:latin typeface="Aptos Narrow"/>
                        </a:rPr>
                        <a:t>₹40 lakh + 8 weeks</a:t>
                      </a:r>
                      <a:r>
                        <a:rPr sz="2400" b="1" dirty="0">
                          <a:solidFill>
                            <a:srgbClr val="1A1A1A"/>
                          </a:solidFill>
                          <a:latin typeface="Aptos Narrow"/>
                        </a:rPr>
                        <a:t>. Data leaves your network </a:t>
                      </a:r>
                      <a:r>
                        <a:rPr sz="2400" b="0" dirty="0">
                          <a:solidFill>
                            <a:srgbClr val="1A1A1A"/>
                          </a:solidFill>
                          <a:latin typeface="Aptos Narrow"/>
                        </a:rPr>
                        <a:t>(</a:t>
                      </a:r>
                      <a:r>
                        <a:rPr lang="en-IN" sz="2400" b="0" dirty="0">
                          <a:solidFill>
                            <a:srgbClr val="1A1A1A"/>
                          </a:solidFill>
                          <a:latin typeface="Aptos Narrow"/>
                        </a:rPr>
                        <a:t>Security</a:t>
                      </a:r>
                      <a:r>
                        <a:rPr sz="2400" b="0" dirty="0">
                          <a:solidFill>
                            <a:srgbClr val="1A1A1A"/>
                          </a:solidFill>
                          <a:latin typeface="Aptos Narrow"/>
                        </a:rPr>
                        <a:t> </a:t>
                      </a:r>
                      <a:r>
                        <a:rPr lang="en-IN" sz="2400" b="0" dirty="0">
                          <a:solidFill>
                            <a:srgbClr val="1A1A1A"/>
                          </a:solidFill>
                          <a:latin typeface="Aptos Narrow"/>
                        </a:rPr>
                        <a:t>rejects</a:t>
                      </a:r>
                      <a:r>
                        <a:rPr sz="2400" b="0" dirty="0">
                          <a:solidFill>
                            <a:srgbClr val="1A1A1A"/>
                          </a:solidFill>
                          <a:latin typeface="Aptos Narrow"/>
                        </a:rPr>
                        <a:t>). Stale in 3 months.</a:t>
                      </a:r>
                    </a:p>
                  </a:txBody>
                  <a:tcPr marL="54864" marT="54864" marB="54864">
                    <a:solidFill>
                      <a:srgbClr val="F0F4FF"/>
                    </a:solidFill>
                  </a:tcPr>
                </a:tc>
                <a:extLst>
                  <a:ext uri="{0D108BD9-81ED-4DB2-BD59-A6C34878D82A}">
                    <a16:rowId xmlns:a16="http://schemas.microsoft.com/office/drawing/2014/main" val="10001"/>
                  </a:ext>
                </a:extLst>
              </a:tr>
              <a:tr h="1273302">
                <a:tc>
                  <a:txBody>
                    <a:bodyPr/>
                    <a:lstStyle/>
                    <a:p>
                      <a:pPr algn="l"/>
                      <a:r>
                        <a:rPr sz="2400" b="1">
                          <a:solidFill>
                            <a:srgbClr val="1A1A1A"/>
                          </a:solidFill>
                          <a:latin typeface="Aptos Narrow"/>
                        </a:rPr>
                        <a:t>B — Context Stuffing</a:t>
                      </a:r>
                    </a:p>
                  </a:txBody>
                  <a:tcPr marL="54864" marT="54864" marB="54864">
                    <a:solidFill>
                      <a:srgbClr val="FFFFFF"/>
                    </a:solidFill>
                  </a:tcPr>
                </a:tc>
                <a:tc>
                  <a:txBody>
                    <a:bodyPr/>
                    <a:lstStyle/>
                    <a:p>
                      <a:pPr algn="l"/>
                      <a:r>
                        <a:rPr sz="2400" b="0">
                          <a:solidFill>
                            <a:srgbClr val="1A1A1A"/>
                          </a:solidFill>
                          <a:latin typeface="Aptos Narrow"/>
                        </a:rPr>
                        <a:t>Send all 18,700 docs on every query</a:t>
                      </a:r>
                    </a:p>
                  </a:txBody>
                  <a:tcPr marL="54864" marT="54864" marB="54864">
                    <a:solidFill>
                      <a:srgbClr val="FFFFFF"/>
                    </a:solidFill>
                  </a:tcPr>
                </a:tc>
                <a:tc>
                  <a:txBody>
                    <a:bodyPr/>
                    <a:lstStyle/>
                    <a:p>
                      <a:pPr algn="l"/>
                      <a:r>
                        <a:rPr sz="2400" b="0" dirty="0">
                          <a:solidFill>
                            <a:srgbClr val="1A1A1A"/>
                          </a:solidFill>
                          <a:latin typeface="Aptos Narrow"/>
                        </a:rPr>
                        <a:t>28M tokens ÷ 200K window = impossible. ₹15 lakh/day at ₹1.50 per 1K tokens.</a:t>
                      </a:r>
                    </a:p>
                  </a:txBody>
                  <a:tcPr marL="54864" marT="54864" marB="54864">
                    <a:solidFill>
                      <a:srgbClr val="FFFFFF"/>
                    </a:solidFill>
                  </a:tcPr>
                </a:tc>
                <a:extLst>
                  <a:ext uri="{0D108BD9-81ED-4DB2-BD59-A6C34878D82A}">
                    <a16:rowId xmlns:a16="http://schemas.microsoft.com/office/drawing/2014/main" val="10002"/>
                  </a:ext>
                </a:extLst>
              </a:tr>
              <a:tr h="1273302">
                <a:tc>
                  <a:txBody>
                    <a:bodyPr/>
                    <a:lstStyle/>
                    <a:p>
                      <a:pPr algn="l"/>
                      <a:r>
                        <a:rPr sz="2400" b="1">
                          <a:solidFill>
                            <a:srgbClr val="1A1A1A"/>
                          </a:solidFill>
                          <a:latin typeface="Aptos Narrow"/>
                        </a:rPr>
                        <a:t>C — RAG ✔</a:t>
                      </a:r>
                    </a:p>
                  </a:txBody>
                  <a:tcPr marL="54864" marT="54864" marB="54864">
                    <a:solidFill>
                      <a:srgbClr val="F0F4FF"/>
                    </a:solidFill>
                  </a:tcPr>
                </a:tc>
                <a:tc>
                  <a:txBody>
                    <a:bodyPr/>
                    <a:lstStyle/>
                    <a:p>
                      <a:pPr algn="l"/>
                      <a:r>
                        <a:rPr sz="2400" b="0">
                          <a:solidFill>
                            <a:srgbClr val="1A1A1A"/>
                          </a:solidFill>
                          <a:latin typeface="Aptos Narrow"/>
                        </a:rPr>
                        <a:t>Retrieve only what's relevant, then answer</a:t>
                      </a:r>
                    </a:p>
                  </a:txBody>
                  <a:tcPr marL="54864" marT="54864" marB="54864">
                    <a:solidFill>
                      <a:srgbClr val="F0F4FF"/>
                    </a:solidFill>
                  </a:tcPr>
                </a:tc>
                <a:tc>
                  <a:txBody>
                    <a:bodyPr/>
                    <a:lstStyle/>
                    <a:p>
                      <a:pPr algn="l"/>
                      <a:r>
                        <a:rPr sz="2400" b="0" dirty="0">
                          <a:solidFill>
                            <a:srgbClr val="1A1A1A"/>
                          </a:solidFill>
                          <a:latin typeface="Aptos Narrow"/>
                        </a:rPr>
                        <a:t>Sends ~4 chunks (~4,000 tokens). Cost: ₹0.06 per question. Only option that scales.</a:t>
                      </a:r>
                    </a:p>
                  </a:txBody>
                  <a:tcPr marL="54864" marT="54864" marB="54864">
                    <a:solidFill>
                      <a:srgbClr val="F0F4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6355080"/>
            <a:ext cx="11274552" cy="438912"/>
          </a:xfrm>
          <a:prstGeom prst="rect">
            <a:avLst/>
          </a:prstGeom>
          <a:noFill/>
        </p:spPr>
        <p:txBody>
          <a:bodyPr wrap="square">
            <a:spAutoFit/>
          </a:bodyPr>
          <a:lstStyle/>
          <a:p>
            <a:pPr algn="l">
              <a:spcBef>
                <a:spcPts val="0"/>
              </a:spcBef>
            </a:pPr>
            <a:r>
              <a:rPr sz="1300" b="1">
                <a:solidFill>
                  <a:srgbClr val="454545"/>
                </a:solidFill>
                <a:latin typeface="Aptos Narrow"/>
              </a:rPr>
              <a:t>RAG is not a trend — it is the only architecture that survives enterprise economics.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The Maths That Kills Context Stuffing</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0"/>
            <a:ext cx="11274552" cy="5378395"/>
          </a:xfrm>
          <a:prstGeom prst="rect">
            <a:avLst/>
          </a:prstGeom>
          <a:noFill/>
        </p:spPr>
        <p:txBody>
          <a:bodyPr wrap="square">
            <a:spAutoFit/>
          </a:bodyPr>
          <a:lstStyle/>
          <a:p>
            <a:pPr algn="l">
              <a:spcBef>
                <a:spcPts val="0"/>
              </a:spcBef>
            </a:pPr>
            <a:r>
              <a:rPr sz="2400" b="1" dirty="0">
                <a:solidFill>
                  <a:srgbClr val="1C395E"/>
                </a:solidFill>
                <a:latin typeface="Aptos Narrow"/>
              </a:rPr>
              <a:t>Sigma </a:t>
            </a:r>
            <a:r>
              <a:rPr sz="2400" b="1" dirty="0" err="1">
                <a:solidFill>
                  <a:srgbClr val="1C395E"/>
                </a:solidFill>
                <a:latin typeface="Aptos Narrow"/>
              </a:rPr>
              <a:t>DataTech</a:t>
            </a:r>
            <a:r>
              <a:rPr sz="2400" b="1" dirty="0">
                <a:solidFill>
                  <a:srgbClr val="1C395E"/>
                </a:solidFill>
                <a:latin typeface="Aptos Narrow"/>
              </a:rPr>
              <a:t> knowledge base:</a:t>
            </a:r>
          </a:p>
          <a:p>
            <a:pPr algn="l">
              <a:spcBef>
                <a:spcPts val="90"/>
              </a:spcBef>
            </a:pPr>
            <a:r>
              <a:rPr sz="2400" b="0" dirty="0">
                <a:solidFill>
                  <a:srgbClr val="1A1A1A"/>
                </a:solidFill>
                <a:latin typeface="Aptos Narrow"/>
              </a:rPr>
              <a:t>  •  12,000 Confluence pages  +  3,500 Jira tickets  +  800 runbooks  +  2,400 Snowflake table docs</a:t>
            </a:r>
          </a:p>
          <a:p>
            <a:pPr algn="l">
              <a:spcBef>
                <a:spcPts val="90"/>
              </a:spcBef>
            </a:pPr>
            <a:r>
              <a:rPr sz="2400" b="0" dirty="0">
                <a:solidFill>
                  <a:srgbClr val="1A1A1A"/>
                </a:solidFill>
                <a:latin typeface="Aptos Narrow"/>
              </a:rPr>
              <a:t>  •  = 18,700 documents  ×  avg 1,500 tokens  =  28,000,000 tokens total</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Claude context window: 200,000 tokens</a:t>
            </a:r>
          </a:p>
          <a:p>
            <a:pPr algn="l">
              <a:spcBef>
                <a:spcPts val="90"/>
              </a:spcBef>
            </a:pPr>
            <a:r>
              <a:rPr sz="2400" b="0" dirty="0">
                <a:solidFill>
                  <a:srgbClr val="1A1A1A"/>
                </a:solidFill>
                <a:latin typeface="Aptos Narrow"/>
              </a:rPr>
              <a:t>  •  You cannot fit 28M tokens into a 200K window  —  you'd need 140 batches per question</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Cost if you could stuff it all:</a:t>
            </a:r>
          </a:p>
          <a:p>
            <a:pPr algn="l">
              <a:spcBef>
                <a:spcPts val="90"/>
              </a:spcBef>
            </a:pPr>
            <a:r>
              <a:rPr sz="2400" b="0" dirty="0">
                <a:solidFill>
                  <a:srgbClr val="1A1A1A"/>
                </a:solidFill>
                <a:latin typeface="Aptos Narrow"/>
              </a:rPr>
              <a:t>  •  ₹1.50 per 1,000 input tokens  ×  200,000 tokens  =  ₹300 per question</a:t>
            </a:r>
          </a:p>
          <a:p>
            <a:pPr algn="l">
              <a:spcBef>
                <a:spcPts val="90"/>
              </a:spcBef>
            </a:pPr>
            <a:r>
              <a:rPr sz="2400" b="0" dirty="0">
                <a:solidFill>
                  <a:srgbClr val="1A1A1A"/>
                </a:solidFill>
                <a:latin typeface="Aptos Narrow"/>
              </a:rPr>
              <a:t>  •  5,000 questions/day  =  ₹15 lakh per day</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RAG cost: 4 chunks × ~1,000 tokens = ₹0.06 per question</a:t>
            </a:r>
          </a:p>
          <a:p>
            <a:pPr algn="l">
              <a:spcBef>
                <a:spcPts val="90"/>
              </a:spcBef>
            </a:pPr>
            <a:r>
              <a:rPr sz="2400" b="0" dirty="0">
                <a:solidFill>
                  <a:srgbClr val="1A1A1A"/>
                </a:solidFill>
                <a:latin typeface="Aptos Narrow"/>
              </a:rPr>
              <a:t>  •  Same answer quality. 5,000× cheaper. This is why RAG exists.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A4DF1-E58A-19FE-222F-34AC1EF267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958C4B-8055-AE51-AE16-677FDD3ED76B}"/>
              </a:ext>
            </a:extLst>
          </p:cNvPr>
          <p:cNvSpPr txBox="1"/>
          <p:nvPr/>
        </p:nvSpPr>
        <p:spPr>
          <a:xfrm>
            <a:off x="457200" y="91440"/>
            <a:ext cx="3681521" cy="553998"/>
          </a:xfrm>
          <a:prstGeom prst="rect">
            <a:avLst/>
          </a:prstGeom>
          <a:noFill/>
        </p:spPr>
        <p:txBody>
          <a:bodyPr wrap="none">
            <a:spAutoFit/>
          </a:bodyPr>
          <a:lstStyle/>
          <a:p>
            <a:pPr algn="l">
              <a:spcBef>
                <a:spcPts val="0"/>
              </a:spcBef>
            </a:pPr>
            <a:r>
              <a:rPr lang="en-IN" sz="3000" b="1" dirty="0">
                <a:solidFill>
                  <a:srgbClr val="1C395E"/>
                </a:solidFill>
                <a:latin typeface="Aptos Narrow"/>
              </a:rPr>
              <a:t>Approach comparison</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C8AC7EF9-2E17-9542-6A8B-3CCCFFCF7E14}"/>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BB2DACB9-A3DE-2CAA-9BED-E87567918AFD}"/>
              </a:ext>
            </a:extLst>
          </p:cNvPr>
          <p:cNvGraphicFramePr>
            <a:graphicFrameLocks noGrp="1"/>
          </p:cNvGraphicFramePr>
          <p:nvPr>
            <p:extLst>
              <p:ext uri="{D42A27DB-BD31-4B8C-83A1-F6EECF244321}">
                <p14:modId xmlns:p14="http://schemas.microsoft.com/office/powerpoint/2010/main" val="315797026"/>
              </p:ext>
            </p:extLst>
          </p:nvPr>
        </p:nvGraphicFramePr>
        <p:xfrm>
          <a:off x="371474" y="1615440"/>
          <a:ext cx="10601324" cy="3017520"/>
        </p:xfrm>
        <a:graphic>
          <a:graphicData uri="http://schemas.openxmlformats.org/drawingml/2006/table">
            <a:tbl>
              <a:tblPr>
                <a:tableStyleId>{616DA210-FB5B-4158-B5E0-FEB733F419BA}</a:tableStyleId>
              </a:tblPr>
              <a:tblGrid>
                <a:gridCol w="2650331">
                  <a:extLst>
                    <a:ext uri="{9D8B030D-6E8A-4147-A177-3AD203B41FA5}">
                      <a16:colId xmlns:a16="http://schemas.microsoft.com/office/drawing/2014/main" val="25655815"/>
                    </a:ext>
                  </a:extLst>
                </a:gridCol>
                <a:gridCol w="2650331">
                  <a:extLst>
                    <a:ext uri="{9D8B030D-6E8A-4147-A177-3AD203B41FA5}">
                      <a16:colId xmlns:a16="http://schemas.microsoft.com/office/drawing/2014/main" val="1347021555"/>
                    </a:ext>
                  </a:extLst>
                </a:gridCol>
                <a:gridCol w="2650331">
                  <a:extLst>
                    <a:ext uri="{9D8B030D-6E8A-4147-A177-3AD203B41FA5}">
                      <a16:colId xmlns:a16="http://schemas.microsoft.com/office/drawing/2014/main" val="2218821078"/>
                    </a:ext>
                  </a:extLst>
                </a:gridCol>
                <a:gridCol w="2650331">
                  <a:extLst>
                    <a:ext uri="{9D8B030D-6E8A-4147-A177-3AD203B41FA5}">
                      <a16:colId xmlns:a16="http://schemas.microsoft.com/office/drawing/2014/main" val="561262814"/>
                    </a:ext>
                  </a:extLst>
                </a:gridCol>
              </a:tblGrid>
              <a:tr h="0">
                <a:tc>
                  <a:txBody>
                    <a:bodyPr/>
                    <a:lstStyle/>
                    <a:p>
                      <a:pPr>
                        <a:buNone/>
                      </a:pPr>
                      <a:endParaRPr lang="en-IN" sz="2800" b="1">
                        <a:latin typeface="Aptos Narrow" panose="020B0004020202020204" pitchFamily="34" charset="0"/>
                      </a:endParaRPr>
                    </a:p>
                  </a:txBody>
                  <a:tcPr anchor="ctr"/>
                </a:tc>
                <a:tc>
                  <a:txBody>
                    <a:bodyPr/>
                    <a:lstStyle/>
                    <a:p>
                      <a:pPr>
                        <a:buNone/>
                      </a:pPr>
                      <a:r>
                        <a:rPr lang="en-IN" sz="2800" b="1">
                          <a:latin typeface="Aptos Narrow" panose="020B0004020202020204" pitchFamily="34" charset="0"/>
                        </a:rPr>
                        <a:t>Context Stuffing</a:t>
                      </a:r>
                    </a:p>
                  </a:txBody>
                  <a:tcPr anchor="ctr"/>
                </a:tc>
                <a:tc>
                  <a:txBody>
                    <a:bodyPr/>
                    <a:lstStyle/>
                    <a:p>
                      <a:pPr>
                        <a:buNone/>
                      </a:pPr>
                      <a:r>
                        <a:rPr lang="en-IN" sz="2800" b="1">
                          <a:latin typeface="Aptos Narrow" panose="020B0004020202020204" pitchFamily="34" charset="0"/>
                        </a:rPr>
                        <a:t>RAG</a:t>
                      </a:r>
                    </a:p>
                  </a:txBody>
                  <a:tcPr anchor="ctr"/>
                </a:tc>
                <a:tc>
                  <a:txBody>
                    <a:bodyPr/>
                    <a:lstStyle/>
                    <a:p>
                      <a:pPr>
                        <a:buNone/>
                      </a:pPr>
                      <a:r>
                        <a:rPr lang="en-IN" sz="2800" b="1" dirty="0">
                          <a:latin typeface="Aptos Narrow" panose="020B0004020202020204" pitchFamily="34" charset="0"/>
                        </a:rPr>
                        <a:t>Fine-tuning</a:t>
                      </a:r>
                    </a:p>
                  </a:txBody>
                  <a:tcPr anchor="ctr"/>
                </a:tc>
                <a:extLst>
                  <a:ext uri="{0D108BD9-81ED-4DB2-BD59-A6C34878D82A}">
                    <a16:rowId xmlns:a16="http://schemas.microsoft.com/office/drawing/2014/main" val="642443602"/>
                  </a:ext>
                </a:extLst>
              </a:tr>
              <a:tr h="0">
                <a:tc>
                  <a:txBody>
                    <a:bodyPr/>
                    <a:lstStyle/>
                    <a:p>
                      <a:pPr>
                        <a:buNone/>
                      </a:pPr>
                      <a:r>
                        <a:rPr lang="en-IN" sz="2800">
                          <a:latin typeface="Aptos Narrow" panose="020B0004020202020204" pitchFamily="34" charset="0"/>
                        </a:rPr>
                        <a:t>When</a:t>
                      </a:r>
                    </a:p>
                  </a:txBody>
                  <a:tcPr anchor="ctr"/>
                </a:tc>
                <a:tc>
                  <a:txBody>
                    <a:bodyPr/>
                    <a:lstStyle/>
                    <a:p>
                      <a:pPr>
                        <a:buNone/>
                      </a:pPr>
                      <a:r>
                        <a:rPr lang="en-IN" sz="2800">
                          <a:latin typeface="Aptos Narrow" panose="020B0004020202020204" pitchFamily="34" charset="0"/>
                        </a:rPr>
                        <a:t>Query time</a:t>
                      </a:r>
                    </a:p>
                  </a:txBody>
                  <a:tcPr anchor="ctr"/>
                </a:tc>
                <a:tc>
                  <a:txBody>
                    <a:bodyPr/>
                    <a:lstStyle/>
                    <a:p>
                      <a:pPr>
                        <a:buNone/>
                      </a:pPr>
                      <a:r>
                        <a:rPr lang="en-IN" sz="2800">
                          <a:latin typeface="Aptos Narrow" panose="020B0004020202020204" pitchFamily="34" charset="0"/>
                        </a:rPr>
                        <a:t>Query time</a:t>
                      </a:r>
                    </a:p>
                  </a:txBody>
                  <a:tcPr anchor="ctr"/>
                </a:tc>
                <a:tc>
                  <a:txBody>
                    <a:bodyPr/>
                    <a:lstStyle/>
                    <a:p>
                      <a:pPr>
                        <a:buNone/>
                      </a:pPr>
                      <a:r>
                        <a:rPr lang="en-IN" sz="2800" dirty="0">
                          <a:latin typeface="Aptos Narrow" panose="020B0004020202020204" pitchFamily="34" charset="0"/>
                        </a:rPr>
                        <a:t>Training time</a:t>
                      </a:r>
                    </a:p>
                  </a:txBody>
                  <a:tcPr anchor="ctr"/>
                </a:tc>
                <a:extLst>
                  <a:ext uri="{0D108BD9-81ED-4DB2-BD59-A6C34878D82A}">
                    <a16:rowId xmlns:a16="http://schemas.microsoft.com/office/drawing/2014/main" val="3745923469"/>
                  </a:ext>
                </a:extLst>
              </a:tr>
              <a:tr h="0">
                <a:tc>
                  <a:txBody>
                    <a:bodyPr/>
                    <a:lstStyle/>
                    <a:p>
                      <a:pPr>
                        <a:buNone/>
                      </a:pPr>
                      <a:r>
                        <a:rPr lang="en-IN" sz="2800" dirty="0">
                          <a:latin typeface="Aptos Narrow" panose="020B0004020202020204" pitchFamily="34" charset="0"/>
                        </a:rPr>
                        <a:t>Cost</a:t>
                      </a:r>
                    </a:p>
                  </a:txBody>
                  <a:tcPr anchor="ctr"/>
                </a:tc>
                <a:tc>
                  <a:txBody>
                    <a:bodyPr/>
                    <a:lstStyle/>
                    <a:p>
                      <a:pPr>
                        <a:buNone/>
                      </a:pPr>
                      <a:r>
                        <a:rPr lang="en-IN" sz="2800">
                          <a:latin typeface="Aptos Narrow" panose="020B0004020202020204" pitchFamily="34" charset="0"/>
                        </a:rPr>
                        <a:t>High per query</a:t>
                      </a:r>
                    </a:p>
                  </a:txBody>
                  <a:tcPr anchor="ctr"/>
                </a:tc>
                <a:tc>
                  <a:txBody>
                    <a:bodyPr/>
                    <a:lstStyle/>
                    <a:p>
                      <a:pPr>
                        <a:buNone/>
                      </a:pPr>
                      <a:r>
                        <a:rPr lang="en-IN" sz="2800">
                          <a:latin typeface="Aptos Narrow" panose="020B0004020202020204" pitchFamily="34" charset="0"/>
                        </a:rPr>
                        <a:t>Low per query</a:t>
                      </a:r>
                    </a:p>
                  </a:txBody>
                  <a:tcPr anchor="ctr"/>
                </a:tc>
                <a:tc>
                  <a:txBody>
                    <a:bodyPr/>
                    <a:lstStyle/>
                    <a:p>
                      <a:pPr>
                        <a:buNone/>
                      </a:pPr>
                      <a:r>
                        <a:rPr lang="en-IN" sz="2800">
                          <a:latin typeface="Aptos Narrow" panose="020B0004020202020204" pitchFamily="34" charset="0"/>
                        </a:rPr>
                        <a:t>High one-time</a:t>
                      </a:r>
                    </a:p>
                  </a:txBody>
                  <a:tcPr anchor="ctr"/>
                </a:tc>
                <a:extLst>
                  <a:ext uri="{0D108BD9-81ED-4DB2-BD59-A6C34878D82A}">
                    <a16:rowId xmlns:a16="http://schemas.microsoft.com/office/drawing/2014/main" val="3602002695"/>
                  </a:ext>
                </a:extLst>
              </a:tr>
              <a:tr h="0">
                <a:tc>
                  <a:txBody>
                    <a:bodyPr/>
                    <a:lstStyle/>
                    <a:p>
                      <a:pPr>
                        <a:buNone/>
                      </a:pPr>
                      <a:r>
                        <a:rPr lang="en-IN" sz="2800">
                          <a:latin typeface="Aptos Narrow" panose="020B0004020202020204" pitchFamily="34" charset="0"/>
                        </a:rPr>
                        <a:t>Updatable?</a:t>
                      </a:r>
                    </a:p>
                  </a:txBody>
                  <a:tcPr anchor="ctr"/>
                </a:tc>
                <a:tc>
                  <a:txBody>
                    <a:bodyPr/>
                    <a:lstStyle/>
                    <a:p>
                      <a:pPr>
                        <a:buNone/>
                      </a:pPr>
                      <a:r>
                        <a:rPr lang="en-IN" sz="2800">
                          <a:latin typeface="Aptos Narrow" panose="020B0004020202020204" pitchFamily="34" charset="0"/>
                        </a:rPr>
                        <a:t>Instantly</a:t>
                      </a:r>
                    </a:p>
                  </a:txBody>
                  <a:tcPr anchor="ctr"/>
                </a:tc>
                <a:tc>
                  <a:txBody>
                    <a:bodyPr/>
                    <a:lstStyle/>
                    <a:p>
                      <a:pPr>
                        <a:buNone/>
                      </a:pPr>
                      <a:r>
                        <a:rPr lang="en-IN" sz="2800">
                          <a:latin typeface="Aptos Narrow" panose="020B0004020202020204" pitchFamily="34" charset="0"/>
                        </a:rPr>
                        <a:t>Instantly</a:t>
                      </a:r>
                    </a:p>
                  </a:txBody>
                  <a:tcPr anchor="ctr"/>
                </a:tc>
                <a:tc>
                  <a:txBody>
                    <a:bodyPr/>
                    <a:lstStyle/>
                    <a:p>
                      <a:pPr>
                        <a:buNone/>
                      </a:pPr>
                      <a:r>
                        <a:rPr lang="en-IN" sz="2800">
                          <a:latin typeface="Aptos Narrow" panose="020B0004020202020204" pitchFamily="34" charset="0"/>
                        </a:rPr>
                        <a:t>Re-train needed</a:t>
                      </a:r>
                    </a:p>
                  </a:txBody>
                  <a:tcPr anchor="ctr"/>
                </a:tc>
                <a:extLst>
                  <a:ext uri="{0D108BD9-81ED-4DB2-BD59-A6C34878D82A}">
                    <a16:rowId xmlns:a16="http://schemas.microsoft.com/office/drawing/2014/main" val="971571879"/>
                  </a:ext>
                </a:extLst>
              </a:tr>
              <a:tr h="0">
                <a:tc>
                  <a:txBody>
                    <a:bodyPr/>
                    <a:lstStyle/>
                    <a:p>
                      <a:pPr>
                        <a:buNone/>
                      </a:pPr>
                      <a:r>
                        <a:rPr lang="en-IN" sz="2800">
                          <a:latin typeface="Aptos Narrow" panose="020B0004020202020204" pitchFamily="34" charset="0"/>
                        </a:rPr>
                        <a:t>Good for</a:t>
                      </a:r>
                    </a:p>
                  </a:txBody>
                  <a:tcPr anchor="ctr"/>
                </a:tc>
                <a:tc>
                  <a:txBody>
                    <a:bodyPr/>
                    <a:lstStyle/>
                    <a:p>
                      <a:pPr>
                        <a:buNone/>
                      </a:pPr>
                      <a:r>
                        <a:rPr lang="en-IN" sz="2800" dirty="0">
                          <a:latin typeface="Aptos Narrow" panose="020B0004020202020204" pitchFamily="34" charset="0"/>
                        </a:rPr>
                        <a:t>Small docs</a:t>
                      </a:r>
                    </a:p>
                  </a:txBody>
                  <a:tcPr anchor="ctr"/>
                </a:tc>
                <a:tc>
                  <a:txBody>
                    <a:bodyPr/>
                    <a:lstStyle/>
                    <a:p>
                      <a:pPr>
                        <a:buNone/>
                      </a:pPr>
                      <a:r>
                        <a:rPr lang="en-IN" sz="2800">
                          <a:latin typeface="Aptos Narrow" panose="020B0004020202020204" pitchFamily="34" charset="0"/>
                        </a:rPr>
                        <a:t>Large knowledge bases</a:t>
                      </a:r>
                    </a:p>
                  </a:txBody>
                  <a:tcPr anchor="ctr"/>
                </a:tc>
                <a:tc>
                  <a:txBody>
                    <a:bodyPr/>
                    <a:lstStyle/>
                    <a:p>
                      <a:pPr>
                        <a:buNone/>
                      </a:pPr>
                      <a:r>
                        <a:rPr lang="en-IN" sz="2800" dirty="0">
                          <a:latin typeface="Aptos Narrow" panose="020B0004020202020204" pitchFamily="34" charset="0"/>
                        </a:rPr>
                        <a:t>Style/</a:t>
                      </a:r>
                      <a:r>
                        <a:rPr lang="en-IN" sz="2800" dirty="0" err="1">
                          <a:latin typeface="Aptos Narrow" panose="020B0004020202020204" pitchFamily="34" charset="0"/>
                        </a:rPr>
                        <a:t>behavior</a:t>
                      </a:r>
                      <a:endParaRPr lang="en-IN" sz="2800" dirty="0">
                        <a:latin typeface="Aptos Narrow" panose="020B0004020202020204" pitchFamily="34" charset="0"/>
                      </a:endParaRPr>
                    </a:p>
                  </a:txBody>
                  <a:tcPr anchor="ctr"/>
                </a:tc>
                <a:extLst>
                  <a:ext uri="{0D108BD9-81ED-4DB2-BD59-A6C34878D82A}">
                    <a16:rowId xmlns:a16="http://schemas.microsoft.com/office/drawing/2014/main" val="3250634783"/>
                  </a:ext>
                </a:extLst>
              </a:tr>
            </a:tbl>
          </a:graphicData>
        </a:graphic>
      </p:graphicFrame>
      <p:sp>
        <p:nvSpPr>
          <p:cNvPr id="7" name="TextBox 6">
            <a:extLst>
              <a:ext uri="{FF2B5EF4-FFF2-40B4-BE49-F238E27FC236}">
                <a16:creationId xmlns:a16="http://schemas.microsoft.com/office/drawing/2014/main" id="{5F247011-302B-8FEF-694B-30813106C453}"/>
              </a:ext>
            </a:extLst>
          </p:cNvPr>
          <p:cNvSpPr txBox="1"/>
          <p:nvPr/>
        </p:nvSpPr>
        <p:spPr>
          <a:xfrm>
            <a:off x="1454278" y="5383887"/>
            <a:ext cx="10306049" cy="1323439"/>
          </a:xfrm>
          <a:prstGeom prst="rect">
            <a:avLst/>
          </a:prstGeom>
          <a:noFill/>
        </p:spPr>
        <p:txBody>
          <a:bodyPr wrap="square">
            <a:spAutoFit/>
          </a:bodyPr>
          <a:lstStyle/>
          <a:p>
            <a:pPr>
              <a:buNone/>
            </a:pPr>
            <a:r>
              <a:rPr lang="en-US" sz="2000" b="1" u="sng" dirty="0"/>
              <a:t>EXAM = QUERY:</a:t>
            </a:r>
          </a:p>
          <a:p>
            <a:pPr>
              <a:buNone/>
            </a:pPr>
            <a:r>
              <a:rPr lang="en-US" sz="2000" b="1" dirty="0"/>
              <a:t>Context stuffing</a:t>
            </a:r>
            <a:r>
              <a:rPr lang="en-US" sz="2000" dirty="0"/>
              <a:t> = opening the entire textbook in front of the student before every exam question</a:t>
            </a:r>
          </a:p>
          <a:p>
            <a:pPr>
              <a:buNone/>
            </a:pPr>
            <a:r>
              <a:rPr lang="en-US" sz="2000" b="1" dirty="0"/>
              <a:t>RAG</a:t>
            </a:r>
            <a:r>
              <a:rPr lang="en-US" sz="2000" dirty="0"/>
              <a:t> = letting the student look up the right page before answering</a:t>
            </a:r>
          </a:p>
          <a:p>
            <a:pPr>
              <a:buNone/>
            </a:pPr>
            <a:r>
              <a:rPr lang="en-US" sz="2000" b="1" dirty="0"/>
              <a:t>Fine-tuning</a:t>
            </a:r>
            <a:r>
              <a:rPr lang="en-US" sz="2000" dirty="0"/>
              <a:t> = the student studied the textbook beforehand — no lookup needed during the exam</a:t>
            </a:r>
          </a:p>
        </p:txBody>
      </p:sp>
    </p:spTree>
    <p:extLst>
      <p:ext uri="{BB962C8B-B14F-4D97-AF65-F5344CB8AC3E}">
        <p14:creationId xmlns:p14="http://schemas.microsoft.com/office/powerpoint/2010/main" val="1039344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6517C-D304-C638-4A1F-33B011FD41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9A6B28-D79A-EB4C-61DD-E7EECF238286}"/>
              </a:ext>
            </a:extLst>
          </p:cNvPr>
          <p:cNvSpPr txBox="1"/>
          <p:nvPr/>
        </p:nvSpPr>
        <p:spPr>
          <a:xfrm>
            <a:off x="457200" y="91440"/>
            <a:ext cx="2694905" cy="553998"/>
          </a:xfrm>
          <a:prstGeom prst="rect">
            <a:avLst/>
          </a:prstGeom>
          <a:noFill/>
        </p:spPr>
        <p:txBody>
          <a:bodyPr wrap="none">
            <a:spAutoFit/>
          </a:bodyPr>
          <a:lstStyle/>
          <a:p>
            <a:pPr algn="l">
              <a:spcBef>
                <a:spcPts val="0"/>
              </a:spcBef>
            </a:pPr>
            <a:r>
              <a:rPr lang="en-IN" sz="3000" b="1" dirty="0">
                <a:solidFill>
                  <a:srgbClr val="1C395E"/>
                </a:solidFill>
                <a:latin typeface="Aptos Narrow"/>
              </a:rPr>
              <a:t>The Flow of RAG</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DE50997D-181C-401B-5145-84E7B30DC2DF}"/>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8FBC1BE-AC3F-77AB-A3EE-7FD001DD9260}"/>
              </a:ext>
            </a:extLst>
          </p:cNvPr>
          <p:cNvSpPr txBox="1"/>
          <p:nvPr/>
        </p:nvSpPr>
        <p:spPr>
          <a:xfrm>
            <a:off x="4447381" y="1059256"/>
            <a:ext cx="3096419" cy="5632311"/>
          </a:xfrm>
          <a:prstGeom prst="rect">
            <a:avLst/>
          </a:prstGeom>
          <a:noFill/>
        </p:spPr>
        <p:txBody>
          <a:bodyPr wrap="square">
            <a:spAutoFit/>
          </a:bodyPr>
          <a:lstStyle/>
          <a:p>
            <a:r>
              <a:rPr lang="en-IN" sz="2400" b="1" dirty="0"/>
              <a:t>Data Source</a:t>
            </a:r>
          </a:p>
          <a:p>
            <a:r>
              <a:rPr lang="en-IN" sz="2400" b="1" dirty="0"/>
              <a:t>   ↓</a:t>
            </a:r>
          </a:p>
          <a:p>
            <a:r>
              <a:rPr lang="en-IN" sz="2400" b="1" dirty="0"/>
              <a:t>Chunking</a:t>
            </a:r>
          </a:p>
          <a:p>
            <a:r>
              <a:rPr lang="en-IN" sz="2400" b="1" dirty="0"/>
              <a:t>   ↓</a:t>
            </a:r>
          </a:p>
          <a:p>
            <a:r>
              <a:rPr lang="en-IN" sz="2400" b="1" dirty="0"/>
              <a:t>Embedding Model</a:t>
            </a:r>
          </a:p>
          <a:p>
            <a:r>
              <a:rPr lang="en-IN" sz="2400" b="1" dirty="0"/>
              <a:t>   ↓</a:t>
            </a:r>
          </a:p>
          <a:p>
            <a:r>
              <a:rPr lang="en-IN" sz="2400" b="1" dirty="0"/>
              <a:t>Vector Database</a:t>
            </a:r>
          </a:p>
          <a:p>
            <a:r>
              <a:rPr lang="en-IN" sz="2400" b="1" dirty="0"/>
              <a:t>   ↓</a:t>
            </a:r>
          </a:p>
          <a:p>
            <a:r>
              <a:rPr lang="en-IN" sz="2400" b="1" dirty="0"/>
              <a:t>Retriever/Search</a:t>
            </a:r>
          </a:p>
          <a:p>
            <a:r>
              <a:rPr lang="en-IN" sz="2400" b="1" dirty="0"/>
              <a:t>   ↓</a:t>
            </a:r>
          </a:p>
          <a:p>
            <a:r>
              <a:rPr lang="en-IN" sz="2400" b="1" dirty="0" err="1"/>
              <a:t>Reranker</a:t>
            </a:r>
            <a:r>
              <a:rPr lang="en-IN" sz="2400" b="1" dirty="0"/>
              <a:t> (optional)</a:t>
            </a:r>
          </a:p>
          <a:p>
            <a:r>
              <a:rPr lang="en-IN" sz="2400" b="1" dirty="0"/>
              <a:t>   ↓</a:t>
            </a:r>
          </a:p>
          <a:p>
            <a:r>
              <a:rPr lang="en-IN" sz="2400" b="1" dirty="0"/>
              <a:t>LLM Generation</a:t>
            </a:r>
          </a:p>
          <a:p>
            <a:r>
              <a:rPr lang="en-IN" sz="2400" b="1" dirty="0"/>
              <a:t>   ↓</a:t>
            </a:r>
          </a:p>
          <a:p>
            <a:r>
              <a:rPr lang="en-IN" sz="2400" b="1" dirty="0"/>
              <a:t>Application/UI</a:t>
            </a:r>
          </a:p>
        </p:txBody>
      </p:sp>
    </p:spTree>
    <p:extLst>
      <p:ext uri="{BB962C8B-B14F-4D97-AF65-F5344CB8AC3E}">
        <p14:creationId xmlns:p14="http://schemas.microsoft.com/office/powerpoint/2010/main" val="15424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53F0-2D0B-0E28-5354-021CA163BD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8D7FE0-EB41-87EA-310C-E6705B3EE330}"/>
              </a:ext>
            </a:extLst>
          </p:cNvPr>
          <p:cNvSpPr txBox="1"/>
          <p:nvPr/>
        </p:nvSpPr>
        <p:spPr>
          <a:xfrm>
            <a:off x="457200" y="126187"/>
            <a:ext cx="1859805" cy="553998"/>
          </a:xfrm>
          <a:prstGeom prst="rect">
            <a:avLst/>
          </a:prstGeom>
          <a:noFill/>
        </p:spPr>
        <p:txBody>
          <a:bodyPr wrap="none">
            <a:spAutoFit/>
          </a:bodyPr>
          <a:lstStyle/>
          <a:p>
            <a:pPr algn="l">
              <a:spcBef>
                <a:spcPts val="0"/>
              </a:spcBef>
            </a:pPr>
            <a:r>
              <a:rPr lang="en-IN" sz="3000" b="1">
                <a:solidFill>
                  <a:srgbClr val="1C395E"/>
                </a:solidFill>
                <a:latin typeface="Aptos Narrow"/>
              </a:rPr>
              <a:t>Scenario 1</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9AE7F64C-67A1-CFDA-612A-D2B41C25FC5D}"/>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C7C4ACB-2FB3-38FB-2507-A9F7D44E28A4}"/>
              </a:ext>
            </a:extLst>
          </p:cNvPr>
          <p:cNvSpPr txBox="1"/>
          <p:nvPr/>
        </p:nvSpPr>
        <p:spPr>
          <a:xfrm>
            <a:off x="457200" y="1344679"/>
            <a:ext cx="11274552" cy="1200329"/>
          </a:xfrm>
          <a:prstGeom prst="rect">
            <a:avLst/>
          </a:prstGeom>
          <a:noFill/>
        </p:spPr>
        <p:txBody>
          <a:bodyPr wrap="square">
            <a:spAutoFit/>
          </a:bodyPr>
          <a:lstStyle/>
          <a:p>
            <a:pPr>
              <a:buNone/>
            </a:pPr>
            <a:r>
              <a:rPr lang="en-US" sz="2400" dirty="0">
                <a:latin typeface="Aptos Narrow" panose="020B0004020202020204" pitchFamily="34" charset="0"/>
              </a:rPr>
              <a:t>A data lake with 5,000 tables. An analyst needs customer churn data. They don't know the table name. They ask the DBA. DBA doesn't know either. They search Confluence. Dead end. This costs hours every day across hundreds of analysts.</a:t>
            </a:r>
          </a:p>
        </p:txBody>
      </p:sp>
      <p:sp>
        <p:nvSpPr>
          <p:cNvPr id="8" name="TextBox 7">
            <a:extLst>
              <a:ext uri="{FF2B5EF4-FFF2-40B4-BE49-F238E27FC236}">
                <a16:creationId xmlns:a16="http://schemas.microsoft.com/office/drawing/2014/main" id="{B9893E6B-5C9F-B50A-9E78-304A5BEED17A}"/>
              </a:ext>
            </a:extLst>
          </p:cNvPr>
          <p:cNvSpPr txBox="1"/>
          <p:nvPr/>
        </p:nvSpPr>
        <p:spPr>
          <a:xfrm>
            <a:off x="390524" y="3343497"/>
            <a:ext cx="11096625" cy="2677656"/>
          </a:xfrm>
          <a:prstGeom prst="rect">
            <a:avLst/>
          </a:prstGeom>
          <a:noFill/>
        </p:spPr>
        <p:txBody>
          <a:bodyPr wrap="square">
            <a:spAutoFit/>
          </a:bodyPr>
          <a:lstStyle/>
          <a:p>
            <a:pPr>
              <a:buNone/>
            </a:pPr>
            <a:r>
              <a:rPr lang="en-US" sz="2400" b="1" dirty="0">
                <a:solidFill>
                  <a:srgbClr val="7030A0"/>
                </a:solidFill>
                <a:latin typeface="Aptos Narrow" panose="020B0004020202020204" pitchFamily="34" charset="0"/>
              </a:rPr>
              <a:t>RAG Solution: </a:t>
            </a:r>
            <a:r>
              <a:rPr lang="en-US" sz="2400" dirty="0">
                <a:solidFill>
                  <a:srgbClr val="7030A0"/>
                </a:solidFill>
                <a:latin typeface="Aptos Narrow" panose="020B0004020202020204" pitchFamily="34" charset="0"/>
              </a:rPr>
              <a:t>Index all table descriptions, column names, business glossary, and data lineage docs into a vector store. Analyst types:</a:t>
            </a:r>
          </a:p>
          <a:p>
            <a:pPr>
              <a:buNone/>
            </a:pPr>
            <a:endParaRPr lang="en-US" sz="2400" dirty="0">
              <a:solidFill>
                <a:srgbClr val="7030A0"/>
              </a:solidFill>
              <a:latin typeface="Aptos Narrow" panose="020B0004020202020204" pitchFamily="34" charset="0"/>
            </a:endParaRPr>
          </a:p>
          <a:p>
            <a:pPr>
              <a:buNone/>
            </a:pPr>
            <a:r>
              <a:rPr lang="en-US" sz="2400" b="1" i="1" dirty="0">
                <a:solidFill>
                  <a:srgbClr val="7030A0"/>
                </a:solidFill>
                <a:latin typeface="Aptos Narrow" panose="020B0004020202020204" pitchFamily="34" charset="0"/>
              </a:rPr>
              <a:t>"Which table has monthly active users by product segment?"</a:t>
            </a:r>
            <a:endParaRPr lang="en-US" sz="2400" b="1" dirty="0">
              <a:solidFill>
                <a:srgbClr val="7030A0"/>
              </a:solidFill>
              <a:latin typeface="Aptos Narrow" panose="020B0004020202020204" pitchFamily="34" charset="0"/>
            </a:endParaRPr>
          </a:p>
          <a:p>
            <a:pPr>
              <a:buNone/>
            </a:pPr>
            <a:endParaRPr lang="en-US" sz="2400" dirty="0">
              <a:solidFill>
                <a:srgbClr val="7030A0"/>
              </a:solidFill>
              <a:latin typeface="Aptos Narrow" panose="020B0004020202020204" pitchFamily="34" charset="0"/>
            </a:endParaRPr>
          </a:p>
          <a:p>
            <a:pPr>
              <a:buNone/>
            </a:pPr>
            <a:r>
              <a:rPr lang="en-US" sz="2400" dirty="0">
                <a:solidFill>
                  <a:srgbClr val="7030A0"/>
                </a:solidFill>
                <a:latin typeface="Aptos Narrow" panose="020B0004020202020204" pitchFamily="34" charset="0"/>
              </a:rPr>
              <a:t>RAG retrieves the 3 most relevant table descriptions → LLM generates a direct answer with table name, owner, and sample query.</a:t>
            </a:r>
          </a:p>
        </p:txBody>
      </p:sp>
    </p:spTree>
    <p:extLst>
      <p:ext uri="{BB962C8B-B14F-4D97-AF65-F5344CB8AC3E}">
        <p14:creationId xmlns:p14="http://schemas.microsoft.com/office/powerpoint/2010/main" val="179441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D499-8C75-1E8A-51CF-97BD5FAC97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B8AD23-E9BA-9C8C-9231-0850D63B7B43}"/>
              </a:ext>
            </a:extLst>
          </p:cNvPr>
          <p:cNvSpPr txBox="1"/>
          <p:nvPr/>
        </p:nvSpPr>
        <p:spPr>
          <a:xfrm>
            <a:off x="457200" y="126187"/>
            <a:ext cx="1859805" cy="553998"/>
          </a:xfrm>
          <a:prstGeom prst="rect">
            <a:avLst/>
          </a:prstGeom>
          <a:noFill/>
        </p:spPr>
        <p:txBody>
          <a:bodyPr wrap="none">
            <a:spAutoFit/>
          </a:bodyPr>
          <a:lstStyle/>
          <a:p>
            <a:pPr algn="l">
              <a:spcBef>
                <a:spcPts val="0"/>
              </a:spcBef>
            </a:pPr>
            <a:r>
              <a:rPr lang="en-IN" sz="3000" b="1" dirty="0">
                <a:solidFill>
                  <a:srgbClr val="1C395E"/>
                </a:solidFill>
                <a:latin typeface="Aptos Narrow"/>
              </a:rPr>
              <a:t>Scenario 2</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822F2508-DE95-A4DE-A307-359E4800D036}"/>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7F2182A-8F72-45A8-0310-4BB2E5796F8C}"/>
              </a:ext>
            </a:extLst>
          </p:cNvPr>
          <p:cNvSpPr txBox="1"/>
          <p:nvPr/>
        </p:nvSpPr>
        <p:spPr>
          <a:xfrm>
            <a:off x="457200" y="1344679"/>
            <a:ext cx="11274552" cy="1200329"/>
          </a:xfrm>
          <a:prstGeom prst="rect">
            <a:avLst/>
          </a:prstGeom>
          <a:noFill/>
        </p:spPr>
        <p:txBody>
          <a:bodyPr wrap="square">
            <a:spAutoFit/>
          </a:bodyPr>
          <a:lstStyle/>
          <a:p>
            <a:pPr>
              <a:buNone/>
            </a:pPr>
            <a:r>
              <a:rPr lang="en-US" sz="2400" dirty="0">
                <a:latin typeface="Aptos Narrow" panose="020B0004020202020204" pitchFamily="34" charset="0"/>
              </a:rPr>
              <a:t>A pipeline fails at 2 AM. The on-call engineer gets a call. He has never touched this pipeline before. He searches Confluence — 47 results, none helpful. He wakes up the pipeline owner. Owner is in a different </a:t>
            </a:r>
            <a:r>
              <a:rPr lang="en-US" sz="2400" dirty="0" err="1">
                <a:latin typeface="Aptos Narrow" panose="020B0004020202020204" pitchFamily="34" charset="0"/>
              </a:rPr>
              <a:t>timezone</a:t>
            </a:r>
            <a:r>
              <a:rPr lang="en-US" sz="2400" dirty="0">
                <a:latin typeface="Aptos Narrow" panose="020B0004020202020204" pitchFamily="34" charset="0"/>
              </a:rPr>
              <a:t>.</a:t>
            </a:r>
          </a:p>
        </p:txBody>
      </p:sp>
      <p:sp>
        <p:nvSpPr>
          <p:cNvPr id="8" name="TextBox 7">
            <a:extLst>
              <a:ext uri="{FF2B5EF4-FFF2-40B4-BE49-F238E27FC236}">
                <a16:creationId xmlns:a16="http://schemas.microsoft.com/office/drawing/2014/main" id="{A2F143A5-B342-41D0-A4F3-E76004DB2BF3}"/>
              </a:ext>
            </a:extLst>
          </p:cNvPr>
          <p:cNvSpPr txBox="1"/>
          <p:nvPr/>
        </p:nvSpPr>
        <p:spPr>
          <a:xfrm>
            <a:off x="390524" y="3343497"/>
            <a:ext cx="11096625" cy="2308324"/>
          </a:xfrm>
          <a:prstGeom prst="rect">
            <a:avLst/>
          </a:prstGeom>
          <a:noFill/>
        </p:spPr>
        <p:txBody>
          <a:bodyPr wrap="square">
            <a:spAutoFit/>
          </a:bodyPr>
          <a:lstStyle/>
          <a:p>
            <a:pPr>
              <a:buNone/>
            </a:pPr>
            <a:r>
              <a:rPr lang="en-US" sz="2400" b="1" dirty="0">
                <a:solidFill>
                  <a:srgbClr val="7030A0"/>
                </a:solidFill>
                <a:latin typeface="Aptos Narrow" panose="020B0004020202020204" pitchFamily="34" charset="0"/>
              </a:rPr>
              <a:t>RAG Solution: </a:t>
            </a:r>
            <a:r>
              <a:rPr lang="en-US" sz="2400" dirty="0">
                <a:solidFill>
                  <a:srgbClr val="7030A0"/>
                </a:solidFill>
                <a:latin typeface="Aptos Narrow" panose="020B0004020202020204" pitchFamily="34" charset="0"/>
              </a:rPr>
              <a:t>He types</a:t>
            </a:r>
          </a:p>
          <a:p>
            <a:pPr>
              <a:buNone/>
            </a:pPr>
            <a:endParaRPr lang="en-US" sz="2400" i="1" dirty="0">
              <a:solidFill>
                <a:srgbClr val="7030A0"/>
              </a:solidFill>
              <a:latin typeface="Aptos Narrow" panose="020B0004020202020204" pitchFamily="34" charset="0"/>
            </a:endParaRPr>
          </a:p>
          <a:p>
            <a:pPr>
              <a:buNone/>
            </a:pPr>
            <a:r>
              <a:rPr lang="en-US" sz="2400" b="1" i="1" dirty="0">
                <a:solidFill>
                  <a:srgbClr val="7030A0"/>
                </a:solidFill>
                <a:latin typeface="Aptos Narrow" panose="020B0004020202020204" pitchFamily="34" charset="0"/>
              </a:rPr>
              <a:t>"why does the payments pipeline fail when Snowflake is slow?“</a:t>
            </a:r>
          </a:p>
          <a:p>
            <a:pPr>
              <a:buNone/>
            </a:pPr>
            <a:endParaRPr lang="en-US" sz="2400" i="1" dirty="0">
              <a:solidFill>
                <a:srgbClr val="7030A0"/>
              </a:solidFill>
              <a:latin typeface="Aptos Narrow" panose="020B0004020202020204" pitchFamily="34" charset="0"/>
            </a:endParaRPr>
          </a:p>
          <a:p>
            <a:pPr>
              <a:buNone/>
            </a:pPr>
            <a:r>
              <a:rPr lang="en-US" sz="2400" dirty="0">
                <a:solidFill>
                  <a:srgbClr val="7030A0"/>
                </a:solidFill>
                <a:latin typeface="Aptos Narrow" panose="020B0004020202020204" pitchFamily="34" charset="0"/>
              </a:rPr>
              <a:t> — system pulls the exact runbook, the known issue, and the fix. Problem solved in 10 minutes. Nobody woke up.</a:t>
            </a:r>
          </a:p>
        </p:txBody>
      </p:sp>
    </p:spTree>
    <p:extLst>
      <p:ext uri="{BB962C8B-B14F-4D97-AF65-F5344CB8AC3E}">
        <p14:creationId xmlns:p14="http://schemas.microsoft.com/office/powerpoint/2010/main" val="72211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AA925-3B67-0190-0FAA-5663CAABAA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F8D830-0020-48CB-AB65-F2F2D3B1B42E}"/>
              </a:ext>
            </a:extLst>
          </p:cNvPr>
          <p:cNvSpPr txBox="1"/>
          <p:nvPr/>
        </p:nvSpPr>
        <p:spPr>
          <a:xfrm>
            <a:off x="457200" y="126187"/>
            <a:ext cx="1859805" cy="553998"/>
          </a:xfrm>
          <a:prstGeom prst="rect">
            <a:avLst/>
          </a:prstGeom>
          <a:noFill/>
        </p:spPr>
        <p:txBody>
          <a:bodyPr wrap="none">
            <a:spAutoFit/>
          </a:bodyPr>
          <a:lstStyle/>
          <a:p>
            <a:pPr algn="l">
              <a:spcBef>
                <a:spcPts val="0"/>
              </a:spcBef>
            </a:pPr>
            <a:r>
              <a:rPr lang="en-IN" sz="3000" b="1" dirty="0">
                <a:solidFill>
                  <a:srgbClr val="1C395E"/>
                </a:solidFill>
                <a:latin typeface="Aptos Narrow"/>
              </a:rPr>
              <a:t>Scenario 3</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685C1D31-014B-9455-516F-1114DD2A1D15}"/>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53CAF2C-C079-9780-707B-58CBE9D3BD39}"/>
              </a:ext>
            </a:extLst>
          </p:cNvPr>
          <p:cNvSpPr txBox="1"/>
          <p:nvPr/>
        </p:nvSpPr>
        <p:spPr>
          <a:xfrm>
            <a:off x="457200" y="1344679"/>
            <a:ext cx="11274552" cy="1200329"/>
          </a:xfrm>
          <a:prstGeom prst="rect">
            <a:avLst/>
          </a:prstGeom>
          <a:noFill/>
        </p:spPr>
        <p:txBody>
          <a:bodyPr wrap="square">
            <a:spAutoFit/>
          </a:bodyPr>
          <a:lstStyle/>
          <a:p>
            <a:pPr>
              <a:buNone/>
            </a:pPr>
            <a:r>
              <a:rPr lang="en-US" sz="2400" dirty="0">
                <a:latin typeface="Aptos Narrow" panose="020B0004020202020204" pitchFamily="34" charset="0"/>
              </a:rPr>
              <a:t>A new data engineer joins Sigma </a:t>
            </a:r>
            <a:r>
              <a:rPr lang="en-US" sz="2400" dirty="0" err="1">
                <a:latin typeface="Aptos Narrow" panose="020B0004020202020204" pitchFamily="34" charset="0"/>
              </a:rPr>
              <a:t>DataTech</a:t>
            </a:r>
            <a:r>
              <a:rPr lang="en-US" sz="2400" dirty="0">
                <a:latin typeface="Aptos Narrow" panose="020B0004020202020204" pitchFamily="34" charset="0"/>
              </a:rPr>
              <a:t>. Day 1. Her manager says — "write a query to find top merchants by transaction volume this quarter." She doesn't know which database, which table, which column has merchant data. She spends 2 days asking colleagues.</a:t>
            </a:r>
          </a:p>
        </p:txBody>
      </p:sp>
      <p:sp>
        <p:nvSpPr>
          <p:cNvPr id="8" name="TextBox 7">
            <a:extLst>
              <a:ext uri="{FF2B5EF4-FFF2-40B4-BE49-F238E27FC236}">
                <a16:creationId xmlns:a16="http://schemas.microsoft.com/office/drawing/2014/main" id="{C7421381-7EDC-6E58-C6D0-34C297EEA865}"/>
              </a:ext>
            </a:extLst>
          </p:cNvPr>
          <p:cNvSpPr txBox="1"/>
          <p:nvPr/>
        </p:nvSpPr>
        <p:spPr>
          <a:xfrm>
            <a:off x="390524" y="3343497"/>
            <a:ext cx="11096625" cy="830997"/>
          </a:xfrm>
          <a:prstGeom prst="rect">
            <a:avLst/>
          </a:prstGeom>
          <a:noFill/>
        </p:spPr>
        <p:txBody>
          <a:bodyPr wrap="square">
            <a:spAutoFit/>
          </a:bodyPr>
          <a:lstStyle/>
          <a:p>
            <a:pPr>
              <a:buNone/>
            </a:pPr>
            <a:r>
              <a:rPr lang="en-US" sz="2400" b="1" dirty="0">
                <a:solidFill>
                  <a:srgbClr val="7030A0"/>
                </a:solidFill>
                <a:latin typeface="Aptos Narrow" panose="020B0004020202020204" pitchFamily="34" charset="0"/>
              </a:rPr>
              <a:t>RAG Solution: </a:t>
            </a:r>
            <a:r>
              <a:rPr lang="en-US" sz="2400" dirty="0">
                <a:solidFill>
                  <a:srgbClr val="7030A0"/>
                </a:solidFill>
                <a:latin typeface="Aptos Narrow" panose="020B0004020202020204" pitchFamily="34" charset="0"/>
              </a:rPr>
              <a:t>She types her question. System returns the right table, the right columns, a sample query, and who owns it. She's productive on Day 1.</a:t>
            </a:r>
          </a:p>
        </p:txBody>
      </p:sp>
    </p:spTree>
    <p:extLst>
      <p:ext uri="{BB962C8B-B14F-4D97-AF65-F5344CB8AC3E}">
        <p14:creationId xmlns:p14="http://schemas.microsoft.com/office/powerpoint/2010/main" val="1470111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E1DD2-3A9A-3F36-5DBB-BA6DDA90F1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1EF66-7761-EB4C-D7EC-6C20D037795D}"/>
              </a:ext>
            </a:extLst>
          </p:cNvPr>
          <p:cNvSpPr txBox="1"/>
          <p:nvPr/>
        </p:nvSpPr>
        <p:spPr>
          <a:xfrm>
            <a:off x="457200" y="126187"/>
            <a:ext cx="1859805" cy="553998"/>
          </a:xfrm>
          <a:prstGeom prst="rect">
            <a:avLst/>
          </a:prstGeom>
          <a:noFill/>
        </p:spPr>
        <p:txBody>
          <a:bodyPr wrap="none">
            <a:spAutoFit/>
          </a:bodyPr>
          <a:lstStyle/>
          <a:p>
            <a:pPr algn="l">
              <a:spcBef>
                <a:spcPts val="0"/>
              </a:spcBef>
            </a:pPr>
            <a:r>
              <a:rPr lang="en-IN" sz="3000" b="1" dirty="0">
                <a:solidFill>
                  <a:srgbClr val="1C395E"/>
                </a:solidFill>
                <a:latin typeface="Aptos Narrow"/>
              </a:rPr>
              <a:t>Scenario 3</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C7201C55-92F2-B069-C5D9-1C16D2B0C0D5}"/>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3171AD5-B618-36C0-B486-1BBD15559B46}"/>
              </a:ext>
            </a:extLst>
          </p:cNvPr>
          <p:cNvSpPr txBox="1"/>
          <p:nvPr/>
        </p:nvSpPr>
        <p:spPr>
          <a:xfrm>
            <a:off x="788987" y="1896159"/>
            <a:ext cx="10610850" cy="3170099"/>
          </a:xfrm>
          <a:prstGeom prst="rect">
            <a:avLst/>
          </a:prstGeom>
          <a:noFill/>
        </p:spPr>
        <p:txBody>
          <a:bodyPr wrap="square">
            <a:spAutoFit/>
          </a:bodyPr>
          <a:lstStyle/>
          <a:p>
            <a:pPr algn="ctr">
              <a:buNone/>
            </a:pPr>
            <a:r>
              <a:rPr lang="en-US" sz="4000" b="1" dirty="0">
                <a:effectLst/>
                <a:latin typeface="Aptos Narrow" panose="020B0004020202020204" pitchFamily="34" charset="0"/>
              </a:rPr>
              <a:t>The common thread across all 5:</a:t>
            </a:r>
            <a:r>
              <a:rPr lang="en-US" sz="4000" dirty="0">
                <a:effectLst/>
                <a:latin typeface="Aptos Narrow" panose="020B0004020202020204" pitchFamily="34" charset="0"/>
              </a:rPr>
              <a:t> </a:t>
            </a:r>
          </a:p>
          <a:p>
            <a:pPr algn="ctr">
              <a:buNone/>
            </a:pPr>
            <a:endParaRPr lang="en-US" sz="4000" dirty="0">
              <a:latin typeface="Aptos Narrow" panose="020B0004020202020204" pitchFamily="34" charset="0"/>
            </a:endParaRPr>
          </a:p>
          <a:p>
            <a:pPr algn="ctr">
              <a:buNone/>
            </a:pPr>
            <a:r>
              <a:rPr lang="en-US" sz="4000" dirty="0">
                <a:effectLst/>
                <a:latin typeface="Aptos Narrow" panose="020B0004020202020204" pitchFamily="34" charset="0"/>
              </a:rPr>
              <a:t>The data exists. The problem is </a:t>
            </a:r>
            <a:r>
              <a:rPr lang="en-US" sz="4000" i="1" dirty="0">
                <a:effectLst/>
                <a:latin typeface="Aptos Narrow" panose="020B0004020202020204" pitchFamily="34" charset="0"/>
              </a:rPr>
              <a:t>finding</a:t>
            </a:r>
            <a:r>
              <a:rPr lang="en-US" sz="4000" dirty="0">
                <a:effectLst/>
                <a:latin typeface="Aptos Narrow" panose="020B0004020202020204" pitchFamily="34" charset="0"/>
              </a:rPr>
              <a:t> it, </a:t>
            </a:r>
            <a:r>
              <a:rPr lang="en-US" sz="4000" i="1" dirty="0">
                <a:effectLst/>
                <a:latin typeface="Aptos Narrow" panose="020B0004020202020204" pitchFamily="34" charset="0"/>
              </a:rPr>
              <a:t>trusting</a:t>
            </a:r>
            <a:r>
              <a:rPr lang="en-US" sz="4000" dirty="0">
                <a:effectLst/>
                <a:latin typeface="Aptos Narrow" panose="020B0004020202020204" pitchFamily="34" charset="0"/>
              </a:rPr>
              <a:t> it, and </a:t>
            </a:r>
            <a:r>
              <a:rPr lang="en-US" sz="4000" i="1" dirty="0">
                <a:effectLst/>
                <a:latin typeface="Aptos Narrow" panose="020B0004020202020204" pitchFamily="34" charset="0"/>
              </a:rPr>
              <a:t>understanding</a:t>
            </a:r>
            <a:r>
              <a:rPr lang="en-US" sz="4000" dirty="0">
                <a:effectLst/>
                <a:latin typeface="Aptos Narrow" panose="020B0004020202020204" pitchFamily="34" charset="0"/>
              </a:rPr>
              <a:t> it fast enough to be useful. That is exactly what RAG fixes.</a:t>
            </a:r>
          </a:p>
        </p:txBody>
      </p:sp>
    </p:spTree>
    <p:extLst>
      <p:ext uri="{BB962C8B-B14F-4D97-AF65-F5344CB8AC3E}">
        <p14:creationId xmlns:p14="http://schemas.microsoft.com/office/powerpoint/2010/main" val="385501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907A-9D4C-CBF9-5725-654A32A8C7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CCF9E4-FAAB-BC9F-283C-E9581130B1CF}"/>
              </a:ext>
            </a:extLst>
          </p:cNvPr>
          <p:cNvSpPr txBox="1"/>
          <p:nvPr/>
        </p:nvSpPr>
        <p:spPr>
          <a:xfrm>
            <a:off x="457200" y="91440"/>
            <a:ext cx="2149948" cy="553998"/>
          </a:xfrm>
          <a:prstGeom prst="rect">
            <a:avLst/>
          </a:prstGeom>
          <a:noFill/>
        </p:spPr>
        <p:txBody>
          <a:bodyPr wrap="none">
            <a:spAutoFit/>
          </a:bodyPr>
          <a:lstStyle/>
          <a:p>
            <a:pPr algn="l">
              <a:spcBef>
                <a:spcPts val="0"/>
              </a:spcBef>
            </a:pPr>
            <a:r>
              <a:rPr lang="en-IN" sz="3000" b="1" dirty="0">
                <a:solidFill>
                  <a:srgbClr val="1C395E"/>
                </a:solidFill>
                <a:latin typeface="Aptos Narrow"/>
              </a:rPr>
              <a:t>Embeddings</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DCF33FFF-5871-17F6-ADFE-D3674A7405D0}"/>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4AA58906-9443-53B5-58C3-C6EE6AEB372A}"/>
              </a:ext>
            </a:extLst>
          </p:cNvPr>
          <p:cNvGraphicFramePr>
            <a:graphicFrameLocks noGrp="1"/>
          </p:cNvGraphicFramePr>
          <p:nvPr>
            <p:extLst>
              <p:ext uri="{D42A27DB-BD31-4B8C-83A1-F6EECF244321}">
                <p14:modId xmlns:p14="http://schemas.microsoft.com/office/powerpoint/2010/main" val="1373974728"/>
              </p:ext>
            </p:extLst>
          </p:nvPr>
        </p:nvGraphicFramePr>
        <p:xfrm>
          <a:off x="457199" y="1447800"/>
          <a:ext cx="11210926" cy="3474720"/>
        </p:xfrm>
        <a:graphic>
          <a:graphicData uri="http://schemas.openxmlformats.org/drawingml/2006/table">
            <a:tbl>
              <a:tblPr>
                <a:tableStyleId>{616DA210-FB5B-4158-B5E0-FEB733F419BA}</a:tableStyleId>
              </a:tblPr>
              <a:tblGrid>
                <a:gridCol w="5405438">
                  <a:extLst>
                    <a:ext uri="{9D8B030D-6E8A-4147-A177-3AD203B41FA5}">
                      <a16:colId xmlns:a16="http://schemas.microsoft.com/office/drawing/2014/main" val="2928110850"/>
                    </a:ext>
                  </a:extLst>
                </a:gridCol>
                <a:gridCol w="5805488">
                  <a:extLst>
                    <a:ext uri="{9D8B030D-6E8A-4147-A177-3AD203B41FA5}">
                      <a16:colId xmlns:a16="http://schemas.microsoft.com/office/drawing/2014/main" val="2149926600"/>
                    </a:ext>
                  </a:extLst>
                </a:gridCol>
              </a:tblGrid>
              <a:tr h="0">
                <a:tc>
                  <a:txBody>
                    <a:bodyPr/>
                    <a:lstStyle/>
                    <a:p>
                      <a:pPr>
                        <a:buNone/>
                      </a:pPr>
                      <a:r>
                        <a:rPr lang="en-IN" sz="3200" b="1"/>
                        <a:t>Leader</a:t>
                      </a:r>
                      <a:endParaRPr lang="en-IN" sz="3200" b="1">
                        <a:latin typeface="Aptos Narrow" panose="020B0004020202020204" pitchFamily="34" charset="0"/>
                      </a:endParaRPr>
                    </a:p>
                  </a:txBody>
                  <a:tcPr anchor="ctr"/>
                </a:tc>
                <a:tc>
                  <a:txBody>
                    <a:bodyPr/>
                    <a:lstStyle/>
                    <a:p>
                      <a:pPr>
                        <a:buNone/>
                      </a:pPr>
                      <a:r>
                        <a:rPr lang="en-IN" sz="3200" b="1" dirty="0"/>
                        <a:t>Popular Models</a:t>
                      </a:r>
                      <a:endParaRPr lang="en-IN" sz="3200" b="1" dirty="0">
                        <a:latin typeface="Aptos Narrow" panose="020B0004020202020204" pitchFamily="34" charset="0"/>
                      </a:endParaRPr>
                    </a:p>
                  </a:txBody>
                  <a:tcPr anchor="ctr"/>
                </a:tc>
                <a:extLst>
                  <a:ext uri="{0D108BD9-81ED-4DB2-BD59-A6C34878D82A}">
                    <a16:rowId xmlns:a16="http://schemas.microsoft.com/office/drawing/2014/main" val="829166050"/>
                  </a:ext>
                </a:extLst>
              </a:tr>
              <a:tr h="0">
                <a:tc>
                  <a:txBody>
                    <a:bodyPr/>
                    <a:lstStyle/>
                    <a:p>
                      <a:pPr>
                        <a:buNone/>
                      </a:pPr>
                      <a:r>
                        <a:rPr lang="en-IN" sz="3200" dirty="0">
                          <a:hlinkClick r:id="rId2"/>
                        </a:rPr>
                        <a:t>OpenAI</a:t>
                      </a:r>
                      <a:endParaRPr lang="en-IN" sz="3200" dirty="0">
                        <a:latin typeface="Aptos Narrow" panose="020B0004020202020204" pitchFamily="34" charset="0"/>
                      </a:endParaRPr>
                    </a:p>
                  </a:txBody>
                  <a:tcPr anchor="ctr"/>
                </a:tc>
                <a:tc>
                  <a:txBody>
                    <a:bodyPr/>
                    <a:lstStyle/>
                    <a:p>
                      <a:pPr>
                        <a:buNone/>
                      </a:pPr>
                      <a:r>
                        <a:rPr lang="en-IN" sz="3200"/>
                        <a:t>text-embedding-3-large, ada-002</a:t>
                      </a:r>
                      <a:endParaRPr lang="en-IN" sz="3200">
                        <a:latin typeface="Aptos Narrow" panose="020B0004020202020204" pitchFamily="34" charset="0"/>
                      </a:endParaRPr>
                    </a:p>
                  </a:txBody>
                  <a:tcPr anchor="ctr"/>
                </a:tc>
                <a:extLst>
                  <a:ext uri="{0D108BD9-81ED-4DB2-BD59-A6C34878D82A}">
                    <a16:rowId xmlns:a16="http://schemas.microsoft.com/office/drawing/2014/main" val="1708949405"/>
                  </a:ext>
                </a:extLst>
              </a:tr>
              <a:tr h="0">
                <a:tc>
                  <a:txBody>
                    <a:bodyPr/>
                    <a:lstStyle/>
                    <a:p>
                      <a:pPr>
                        <a:buNone/>
                      </a:pPr>
                      <a:r>
                        <a:rPr lang="en-IN" sz="3200" dirty="0">
                          <a:hlinkClick r:id="rId3"/>
                        </a:rPr>
                        <a:t>Hugging Face</a:t>
                      </a:r>
                      <a:endParaRPr lang="en-IN" sz="3200" dirty="0">
                        <a:latin typeface="Aptos Narrow" panose="020B0004020202020204" pitchFamily="34" charset="0"/>
                      </a:endParaRPr>
                    </a:p>
                  </a:txBody>
                  <a:tcPr anchor="ctr"/>
                </a:tc>
                <a:tc>
                  <a:txBody>
                    <a:bodyPr/>
                    <a:lstStyle/>
                    <a:p>
                      <a:pPr>
                        <a:buNone/>
                      </a:pPr>
                      <a:r>
                        <a:rPr lang="en-IN" sz="3200"/>
                        <a:t>sentence-transformers</a:t>
                      </a:r>
                      <a:endParaRPr lang="en-IN" sz="3200">
                        <a:latin typeface="Aptos Narrow" panose="020B0004020202020204" pitchFamily="34" charset="0"/>
                      </a:endParaRPr>
                    </a:p>
                  </a:txBody>
                  <a:tcPr anchor="ctr"/>
                </a:tc>
                <a:extLst>
                  <a:ext uri="{0D108BD9-81ED-4DB2-BD59-A6C34878D82A}">
                    <a16:rowId xmlns:a16="http://schemas.microsoft.com/office/drawing/2014/main" val="1841383435"/>
                  </a:ext>
                </a:extLst>
              </a:tr>
              <a:tr h="0">
                <a:tc>
                  <a:txBody>
                    <a:bodyPr/>
                    <a:lstStyle/>
                    <a:p>
                      <a:pPr>
                        <a:buNone/>
                      </a:pPr>
                      <a:r>
                        <a:rPr lang="en-IN" sz="3200">
                          <a:hlinkClick r:id="rId4"/>
                        </a:rPr>
                        <a:t>BAAI</a:t>
                      </a:r>
                      <a:endParaRPr lang="en-IN" sz="3200">
                        <a:latin typeface="Aptos Narrow" panose="020B0004020202020204" pitchFamily="34" charset="0"/>
                      </a:endParaRPr>
                    </a:p>
                  </a:txBody>
                  <a:tcPr anchor="ctr"/>
                </a:tc>
                <a:tc>
                  <a:txBody>
                    <a:bodyPr/>
                    <a:lstStyle/>
                    <a:p>
                      <a:pPr>
                        <a:buNone/>
                      </a:pPr>
                      <a:r>
                        <a:rPr lang="en-IN" sz="3200"/>
                        <a:t>BGE models</a:t>
                      </a:r>
                      <a:endParaRPr lang="en-IN" sz="3200">
                        <a:latin typeface="Aptos Narrow" panose="020B0004020202020204" pitchFamily="34" charset="0"/>
                      </a:endParaRPr>
                    </a:p>
                  </a:txBody>
                  <a:tcPr anchor="ctr"/>
                </a:tc>
                <a:extLst>
                  <a:ext uri="{0D108BD9-81ED-4DB2-BD59-A6C34878D82A}">
                    <a16:rowId xmlns:a16="http://schemas.microsoft.com/office/drawing/2014/main" val="3815888455"/>
                  </a:ext>
                </a:extLst>
              </a:tr>
              <a:tr h="0">
                <a:tc>
                  <a:txBody>
                    <a:bodyPr/>
                    <a:lstStyle/>
                    <a:p>
                      <a:pPr>
                        <a:buNone/>
                      </a:pPr>
                      <a:r>
                        <a:rPr lang="en-IN" sz="3200">
                          <a:hlinkClick r:id="rId5"/>
                        </a:rPr>
                        <a:t>Cohere</a:t>
                      </a:r>
                      <a:endParaRPr lang="en-IN" sz="3200">
                        <a:latin typeface="Aptos Narrow" panose="020B0004020202020204" pitchFamily="34" charset="0"/>
                      </a:endParaRPr>
                    </a:p>
                  </a:txBody>
                  <a:tcPr anchor="ctr"/>
                </a:tc>
                <a:tc>
                  <a:txBody>
                    <a:bodyPr/>
                    <a:lstStyle/>
                    <a:p>
                      <a:pPr>
                        <a:buNone/>
                      </a:pPr>
                      <a:r>
                        <a:rPr lang="en-IN" sz="3200"/>
                        <a:t>Embed models</a:t>
                      </a:r>
                      <a:endParaRPr lang="en-IN" sz="3200">
                        <a:latin typeface="Aptos Narrow" panose="020B0004020202020204" pitchFamily="34" charset="0"/>
                      </a:endParaRPr>
                    </a:p>
                  </a:txBody>
                  <a:tcPr anchor="ctr"/>
                </a:tc>
                <a:extLst>
                  <a:ext uri="{0D108BD9-81ED-4DB2-BD59-A6C34878D82A}">
                    <a16:rowId xmlns:a16="http://schemas.microsoft.com/office/drawing/2014/main" val="2294635590"/>
                  </a:ext>
                </a:extLst>
              </a:tr>
              <a:tr h="0">
                <a:tc>
                  <a:txBody>
                    <a:bodyPr/>
                    <a:lstStyle/>
                    <a:p>
                      <a:pPr>
                        <a:buNone/>
                      </a:pPr>
                      <a:r>
                        <a:rPr lang="en-IN" sz="3200">
                          <a:hlinkClick r:id="rId6"/>
                        </a:rPr>
                        <a:t>Google AI</a:t>
                      </a:r>
                      <a:endParaRPr lang="en-IN" sz="3200">
                        <a:latin typeface="Aptos Narrow" panose="020B0004020202020204" pitchFamily="34" charset="0"/>
                      </a:endParaRPr>
                    </a:p>
                  </a:txBody>
                  <a:tcPr anchor="ctr"/>
                </a:tc>
                <a:tc>
                  <a:txBody>
                    <a:bodyPr/>
                    <a:lstStyle/>
                    <a:p>
                      <a:pPr>
                        <a:buNone/>
                      </a:pPr>
                      <a:r>
                        <a:rPr lang="en-IN" sz="3200" dirty="0"/>
                        <a:t>Gemini embeddings</a:t>
                      </a:r>
                      <a:endParaRPr lang="en-IN" sz="3200" dirty="0">
                        <a:latin typeface="Aptos Narrow" panose="020B0004020202020204" pitchFamily="34" charset="0"/>
                      </a:endParaRPr>
                    </a:p>
                  </a:txBody>
                  <a:tcPr anchor="ctr"/>
                </a:tc>
                <a:extLst>
                  <a:ext uri="{0D108BD9-81ED-4DB2-BD59-A6C34878D82A}">
                    <a16:rowId xmlns:a16="http://schemas.microsoft.com/office/drawing/2014/main" val="1237414903"/>
                  </a:ext>
                </a:extLst>
              </a:tr>
            </a:tbl>
          </a:graphicData>
        </a:graphic>
      </p:graphicFrame>
    </p:spTree>
    <p:extLst>
      <p:ext uri="{BB962C8B-B14F-4D97-AF65-F5344CB8AC3E}">
        <p14:creationId xmlns:p14="http://schemas.microsoft.com/office/powerpoint/2010/main" val="209418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E9156-A4C8-D3CB-6EEF-A65BACE7B2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6366D3-8C02-4F80-80AF-6270997CCDBB}"/>
              </a:ext>
            </a:extLst>
          </p:cNvPr>
          <p:cNvSpPr txBox="1"/>
          <p:nvPr/>
        </p:nvSpPr>
        <p:spPr>
          <a:xfrm>
            <a:off x="457200" y="91440"/>
            <a:ext cx="2801793" cy="553998"/>
          </a:xfrm>
          <a:prstGeom prst="rect">
            <a:avLst/>
          </a:prstGeom>
          <a:noFill/>
        </p:spPr>
        <p:txBody>
          <a:bodyPr wrap="none">
            <a:spAutoFit/>
          </a:bodyPr>
          <a:lstStyle/>
          <a:p>
            <a:pPr algn="l">
              <a:spcBef>
                <a:spcPts val="0"/>
              </a:spcBef>
            </a:pPr>
            <a:r>
              <a:rPr lang="en-IN" sz="3000" b="1" dirty="0">
                <a:solidFill>
                  <a:srgbClr val="1C395E"/>
                </a:solidFill>
                <a:latin typeface="Aptos Narrow"/>
              </a:rPr>
              <a:t>Vector Database</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847F6C6D-FE4B-4CDC-2230-D8F972BB9DA1}"/>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12BA158A-DD0A-FDF0-43E7-1EC750F2044C}"/>
              </a:ext>
            </a:extLst>
          </p:cNvPr>
          <p:cNvGraphicFramePr>
            <a:graphicFrameLocks noGrp="1"/>
          </p:cNvGraphicFramePr>
          <p:nvPr>
            <p:extLst>
              <p:ext uri="{D42A27DB-BD31-4B8C-83A1-F6EECF244321}">
                <p14:modId xmlns:p14="http://schemas.microsoft.com/office/powerpoint/2010/main" val="3397394106"/>
              </p:ext>
            </p:extLst>
          </p:nvPr>
        </p:nvGraphicFramePr>
        <p:xfrm>
          <a:off x="323849" y="1327424"/>
          <a:ext cx="11077576" cy="4206240"/>
        </p:xfrm>
        <a:graphic>
          <a:graphicData uri="http://schemas.openxmlformats.org/drawingml/2006/table">
            <a:tbl>
              <a:tblPr>
                <a:tableStyleId>{616DA210-FB5B-4158-B5E0-FEB733F419BA}</a:tableStyleId>
              </a:tblPr>
              <a:tblGrid>
                <a:gridCol w="5538788">
                  <a:extLst>
                    <a:ext uri="{9D8B030D-6E8A-4147-A177-3AD203B41FA5}">
                      <a16:colId xmlns:a16="http://schemas.microsoft.com/office/drawing/2014/main" val="1275984853"/>
                    </a:ext>
                  </a:extLst>
                </a:gridCol>
                <a:gridCol w="5538788">
                  <a:extLst>
                    <a:ext uri="{9D8B030D-6E8A-4147-A177-3AD203B41FA5}">
                      <a16:colId xmlns:a16="http://schemas.microsoft.com/office/drawing/2014/main" val="3823189135"/>
                    </a:ext>
                  </a:extLst>
                </a:gridCol>
              </a:tblGrid>
              <a:tr h="0">
                <a:tc>
                  <a:txBody>
                    <a:bodyPr/>
                    <a:lstStyle/>
                    <a:p>
                      <a:pPr marL="0" algn="l" defTabSz="457200" rtl="0" eaLnBrk="1" latinLnBrk="0" hangingPunct="1">
                        <a:buNone/>
                      </a:pPr>
                      <a:r>
                        <a:rPr lang="en-IN" sz="3200" b="1" kern="1200">
                          <a:solidFill>
                            <a:schemeClr val="tx1"/>
                          </a:solidFill>
                        </a:rPr>
                        <a:t>Leader</a:t>
                      </a:r>
                      <a:endParaRPr lang="en-IN" sz="3200" b="1"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3200" b="1" kern="1200" dirty="0">
                          <a:solidFill>
                            <a:schemeClr val="tx1"/>
                          </a:solidFill>
                        </a:rPr>
                        <a:t>Notes</a:t>
                      </a:r>
                      <a:endParaRPr lang="en-IN" sz="3200" b="1"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1128003863"/>
                  </a:ext>
                </a:extLst>
              </a:tr>
              <a:tr h="0">
                <a:tc>
                  <a:txBody>
                    <a:bodyPr/>
                    <a:lstStyle/>
                    <a:p>
                      <a:pPr marL="0" algn="l" defTabSz="457200" rtl="0" eaLnBrk="1" latinLnBrk="0" hangingPunct="1">
                        <a:buNone/>
                      </a:pPr>
                      <a:r>
                        <a:rPr lang="en-IN" sz="2800" b="0" kern="1200">
                          <a:solidFill>
                            <a:schemeClr val="tx1"/>
                          </a:solidFill>
                          <a:hlinkClick r:id="rId2">
                            <a:extLst>
                              <a:ext uri="{A12FA001-AC4F-418D-AE19-62706E023703}">
                                <ahyp:hlinkClr xmlns:ahyp="http://schemas.microsoft.com/office/drawing/2018/hyperlinkcolor" val="tx"/>
                              </a:ext>
                            </a:extLst>
                          </a:hlinkClick>
                        </a:rPr>
                        <a:t>Pinecone</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US" sz="2800" b="0" kern="1200" dirty="0">
                          <a:solidFill>
                            <a:schemeClr val="tx1"/>
                          </a:solidFill>
                        </a:rPr>
                        <a:t>Most popular managed vector DB</a:t>
                      </a:r>
                      <a:endParaRPr lang="en-US"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1882522109"/>
                  </a:ext>
                </a:extLst>
              </a:tr>
              <a:tr h="0">
                <a:tc>
                  <a:txBody>
                    <a:bodyPr/>
                    <a:lstStyle/>
                    <a:p>
                      <a:pPr marL="0" algn="l" defTabSz="457200" rtl="0" eaLnBrk="1" latinLnBrk="0" hangingPunct="1">
                        <a:buNone/>
                      </a:pPr>
                      <a:r>
                        <a:rPr lang="en-IN" sz="2800" b="0" kern="1200">
                          <a:solidFill>
                            <a:schemeClr val="tx1"/>
                          </a:solidFill>
                          <a:hlinkClick r:id="rId3">
                            <a:extLst>
                              <a:ext uri="{A12FA001-AC4F-418D-AE19-62706E023703}">
                                <ahyp:hlinkClr xmlns:ahyp="http://schemas.microsoft.com/office/drawing/2018/hyperlinkcolor" val="tx"/>
                              </a:ext>
                            </a:extLst>
                          </a:hlinkClick>
                        </a:rPr>
                        <a:t>ChromaDB</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Developer-friendly/local</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3515525715"/>
                  </a:ext>
                </a:extLst>
              </a:tr>
              <a:tr h="0">
                <a:tc>
                  <a:txBody>
                    <a:bodyPr/>
                    <a:lstStyle/>
                    <a:p>
                      <a:pPr marL="0" algn="l" defTabSz="457200" rtl="0" eaLnBrk="1" latinLnBrk="0" hangingPunct="1">
                        <a:buNone/>
                      </a:pPr>
                      <a:r>
                        <a:rPr lang="en-IN" sz="2800" b="0" kern="1200" dirty="0" err="1">
                          <a:solidFill>
                            <a:schemeClr val="tx1"/>
                          </a:solidFill>
                          <a:hlinkClick r:id="rId4">
                            <a:extLst>
                              <a:ext uri="{A12FA001-AC4F-418D-AE19-62706E023703}">
                                <ahyp:hlinkClr xmlns:ahyp="http://schemas.microsoft.com/office/drawing/2018/hyperlinkcolor" val="tx"/>
                              </a:ext>
                            </a:extLst>
                          </a:hlinkClick>
                        </a:rPr>
                        <a:t>Weaviate</a:t>
                      </a:r>
                      <a:endParaRPr lang="en-IN" sz="2800" b="0" kern="1200" dirty="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Enterprise-grade open source</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1311657353"/>
                  </a:ext>
                </a:extLst>
              </a:tr>
              <a:tr h="0">
                <a:tc>
                  <a:txBody>
                    <a:bodyPr/>
                    <a:lstStyle/>
                    <a:p>
                      <a:pPr marL="0" algn="l" defTabSz="457200" rtl="0" eaLnBrk="1" latinLnBrk="0" hangingPunct="1">
                        <a:buNone/>
                      </a:pPr>
                      <a:r>
                        <a:rPr lang="en-IN" sz="2800" b="0" kern="1200">
                          <a:solidFill>
                            <a:schemeClr val="tx1"/>
                          </a:solidFill>
                          <a:hlinkClick r:id="rId5">
                            <a:extLst>
                              <a:ext uri="{A12FA001-AC4F-418D-AE19-62706E023703}">
                                <ahyp:hlinkClr xmlns:ahyp="http://schemas.microsoft.com/office/drawing/2018/hyperlinkcolor" val="tx"/>
                              </a:ext>
                            </a:extLst>
                          </a:hlinkClick>
                        </a:rPr>
                        <a:t>Qdrant</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Fast growing</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322401146"/>
                  </a:ext>
                </a:extLst>
              </a:tr>
              <a:tr h="0">
                <a:tc>
                  <a:txBody>
                    <a:bodyPr/>
                    <a:lstStyle/>
                    <a:p>
                      <a:pPr marL="0" algn="l" defTabSz="457200" rtl="0" eaLnBrk="1" latinLnBrk="0" hangingPunct="1">
                        <a:buNone/>
                      </a:pPr>
                      <a:r>
                        <a:rPr lang="en-IN" sz="2800" b="0" kern="1200">
                          <a:solidFill>
                            <a:schemeClr val="tx1"/>
                          </a:solidFill>
                          <a:hlinkClick r:id="rId6">
                            <a:extLst>
                              <a:ext uri="{A12FA001-AC4F-418D-AE19-62706E023703}">
                                <ahyp:hlinkClr xmlns:ahyp="http://schemas.microsoft.com/office/drawing/2018/hyperlinkcolor" val="tx"/>
                              </a:ext>
                            </a:extLst>
                          </a:hlinkClick>
                        </a:rPr>
                        <a:t>Milvus</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Large-scale vector infra</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2165017877"/>
                  </a:ext>
                </a:extLst>
              </a:tr>
              <a:tr h="0">
                <a:tc>
                  <a:txBody>
                    <a:bodyPr/>
                    <a:lstStyle/>
                    <a:p>
                      <a:pPr marL="0" algn="l" defTabSz="457200" rtl="0" eaLnBrk="1" latinLnBrk="0" hangingPunct="1">
                        <a:buNone/>
                      </a:pPr>
                      <a:r>
                        <a:rPr lang="en-IN" sz="2800" b="0" kern="1200">
                          <a:solidFill>
                            <a:schemeClr val="tx1"/>
                          </a:solidFill>
                          <a:hlinkClick r:id="rId7">
                            <a:extLst>
                              <a:ext uri="{A12FA001-AC4F-418D-AE19-62706E023703}">
                                <ahyp:hlinkClr xmlns:ahyp="http://schemas.microsoft.com/office/drawing/2018/hyperlinkcolor" val="tx"/>
                              </a:ext>
                            </a:extLst>
                          </a:hlinkClick>
                        </a:rPr>
                        <a:t>FAISS</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Library, not full DB</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1325051933"/>
                  </a:ext>
                </a:extLst>
              </a:tr>
              <a:tr h="0">
                <a:tc>
                  <a:txBody>
                    <a:bodyPr/>
                    <a:lstStyle/>
                    <a:p>
                      <a:pPr marL="0" algn="l" defTabSz="457200" rtl="0" eaLnBrk="1" latinLnBrk="0" hangingPunct="1">
                        <a:buNone/>
                      </a:pPr>
                      <a:r>
                        <a:rPr lang="en-IN" sz="2800" b="0" kern="1200">
                          <a:solidFill>
                            <a:schemeClr val="tx1"/>
                          </a:solidFill>
                          <a:hlinkClick r:id="rId8">
                            <a:extLst>
                              <a:ext uri="{A12FA001-AC4F-418D-AE19-62706E023703}">
                                <ahyp:hlinkClr xmlns:ahyp="http://schemas.microsoft.com/office/drawing/2018/hyperlinkcolor" val="tx"/>
                              </a:ext>
                            </a:extLst>
                          </a:hlinkClick>
                        </a:rPr>
                        <a:t>Azure AI Search</a:t>
                      </a:r>
                      <a:endParaRPr lang="en-IN" sz="2800" b="0" kern="1200">
                        <a:solidFill>
                          <a:schemeClr val="tx1"/>
                        </a:solidFill>
                        <a:latin typeface="Aptos Narrow" panose="020B0004020202020204" pitchFamily="34" charset="0"/>
                        <a:ea typeface="+mn-ea"/>
                        <a:cs typeface="+mn-cs"/>
                      </a:endParaRPr>
                    </a:p>
                  </a:txBody>
                  <a:tcPr anchor="ctr"/>
                </a:tc>
                <a:tc>
                  <a:txBody>
                    <a:bodyPr/>
                    <a:lstStyle/>
                    <a:p>
                      <a:pPr marL="0" algn="l" defTabSz="457200" rtl="0" eaLnBrk="1" latinLnBrk="0" hangingPunct="1">
                        <a:buNone/>
                      </a:pPr>
                      <a:r>
                        <a:rPr lang="en-IN" sz="2800" b="0" kern="1200" dirty="0">
                          <a:solidFill>
                            <a:schemeClr val="tx1"/>
                          </a:solidFill>
                        </a:rPr>
                        <a:t>Enterprise Microsoft ecosystem</a:t>
                      </a:r>
                      <a:endParaRPr lang="en-IN" sz="2800" b="0" kern="1200" dirty="0">
                        <a:solidFill>
                          <a:schemeClr val="tx1"/>
                        </a:solidFill>
                        <a:latin typeface="Aptos Narrow" panose="020B0004020202020204" pitchFamily="34" charset="0"/>
                        <a:ea typeface="+mn-ea"/>
                        <a:cs typeface="+mn-cs"/>
                      </a:endParaRPr>
                    </a:p>
                  </a:txBody>
                  <a:tcPr anchor="ctr"/>
                </a:tc>
                <a:extLst>
                  <a:ext uri="{0D108BD9-81ED-4DB2-BD59-A6C34878D82A}">
                    <a16:rowId xmlns:a16="http://schemas.microsoft.com/office/drawing/2014/main" val="1032979721"/>
                  </a:ext>
                </a:extLst>
              </a:tr>
            </a:tbl>
          </a:graphicData>
        </a:graphic>
      </p:graphicFrame>
    </p:spTree>
    <p:extLst>
      <p:ext uri="{BB962C8B-B14F-4D97-AF65-F5344CB8AC3E}">
        <p14:creationId xmlns:p14="http://schemas.microsoft.com/office/powerpoint/2010/main" val="4171812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CBB6D-2834-FCC9-F958-426641D3CF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7A16A2-311B-F9A7-3449-F66DE06C3DEF}"/>
              </a:ext>
            </a:extLst>
          </p:cNvPr>
          <p:cNvSpPr txBox="1"/>
          <p:nvPr/>
        </p:nvSpPr>
        <p:spPr>
          <a:xfrm>
            <a:off x="457200" y="91440"/>
            <a:ext cx="5281061" cy="584775"/>
          </a:xfrm>
          <a:prstGeom prst="rect">
            <a:avLst/>
          </a:prstGeom>
          <a:noFill/>
        </p:spPr>
        <p:txBody>
          <a:bodyPr wrap="none">
            <a:spAutoFit/>
          </a:bodyPr>
          <a:lstStyle/>
          <a:p>
            <a:r>
              <a:rPr lang="en-IN" sz="3200" b="1" dirty="0">
                <a:latin typeface="Aptos Narrow" panose="020B0004020202020204" pitchFamily="34" charset="0"/>
              </a:rPr>
              <a:t>RAG Orchestration Framework</a:t>
            </a:r>
            <a:endParaRPr sz="3000" b="1" dirty="0">
              <a:solidFill>
                <a:srgbClr val="1C395E"/>
              </a:solidFill>
              <a:latin typeface="Aptos Narrow" panose="020B0004020202020204" pitchFamily="34" charset="0"/>
            </a:endParaRPr>
          </a:p>
        </p:txBody>
      </p:sp>
      <p:sp>
        <p:nvSpPr>
          <p:cNvPr id="3" name="Rectangle 2">
            <a:extLst>
              <a:ext uri="{FF2B5EF4-FFF2-40B4-BE49-F238E27FC236}">
                <a16:creationId xmlns:a16="http://schemas.microsoft.com/office/drawing/2014/main" id="{3FC53368-4324-99DC-F240-2CED2A3B25D2}"/>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F09A39B8-8248-F354-B5C1-17CFE5D17E2D}"/>
              </a:ext>
            </a:extLst>
          </p:cNvPr>
          <p:cNvGraphicFramePr>
            <a:graphicFrameLocks noGrp="1"/>
          </p:cNvGraphicFramePr>
          <p:nvPr>
            <p:extLst>
              <p:ext uri="{D42A27DB-BD31-4B8C-83A1-F6EECF244321}">
                <p14:modId xmlns:p14="http://schemas.microsoft.com/office/powerpoint/2010/main" val="805930535"/>
              </p:ext>
            </p:extLst>
          </p:nvPr>
        </p:nvGraphicFramePr>
        <p:xfrm>
          <a:off x="323849" y="1327424"/>
          <a:ext cx="11077576" cy="3657600"/>
        </p:xfrm>
        <a:graphic>
          <a:graphicData uri="http://schemas.openxmlformats.org/drawingml/2006/table">
            <a:tbl>
              <a:tblPr>
                <a:tableStyleId>{616DA210-FB5B-4158-B5E0-FEB733F419BA}</a:tableStyleId>
              </a:tblPr>
              <a:tblGrid>
                <a:gridCol w="5538788">
                  <a:extLst>
                    <a:ext uri="{9D8B030D-6E8A-4147-A177-3AD203B41FA5}">
                      <a16:colId xmlns:a16="http://schemas.microsoft.com/office/drawing/2014/main" val="1275984853"/>
                    </a:ext>
                  </a:extLst>
                </a:gridCol>
                <a:gridCol w="5538788">
                  <a:extLst>
                    <a:ext uri="{9D8B030D-6E8A-4147-A177-3AD203B41FA5}">
                      <a16:colId xmlns:a16="http://schemas.microsoft.com/office/drawing/2014/main" val="3823189135"/>
                    </a:ext>
                  </a:extLst>
                </a:gridCol>
              </a:tblGrid>
              <a:tr h="0">
                <a:tc>
                  <a:txBody>
                    <a:bodyPr/>
                    <a:lstStyle/>
                    <a:p>
                      <a:pPr>
                        <a:buNone/>
                      </a:pPr>
                      <a:r>
                        <a:rPr lang="en-IN" sz="2400" b="1">
                          <a:latin typeface="Aptos Narrow" panose="020B0004020202020204" pitchFamily="34" charset="0"/>
                        </a:rPr>
                        <a:t>Leader</a:t>
                      </a:r>
                    </a:p>
                  </a:txBody>
                  <a:tcPr anchor="ctr"/>
                </a:tc>
                <a:tc>
                  <a:txBody>
                    <a:bodyPr/>
                    <a:lstStyle/>
                    <a:p>
                      <a:pPr>
                        <a:buNone/>
                      </a:pPr>
                      <a:r>
                        <a:rPr lang="en-IN" sz="2400" b="1" dirty="0">
                          <a:latin typeface="Aptos Narrow" panose="020B0004020202020204" pitchFamily="34" charset="0"/>
                        </a:rPr>
                        <a:t>Notes</a:t>
                      </a:r>
                    </a:p>
                  </a:txBody>
                  <a:tcPr anchor="ctr"/>
                </a:tc>
                <a:extLst>
                  <a:ext uri="{0D108BD9-81ED-4DB2-BD59-A6C34878D82A}">
                    <a16:rowId xmlns:a16="http://schemas.microsoft.com/office/drawing/2014/main" val="1128003863"/>
                  </a:ext>
                </a:extLst>
              </a:tr>
              <a:tr h="0">
                <a:tc>
                  <a:txBody>
                    <a:bodyPr/>
                    <a:lstStyle/>
                    <a:p>
                      <a:pPr>
                        <a:buNone/>
                      </a:pPr>
                      <a:r>
                        <a:rPr lang="en-IN" sz="2400">
                          <a:latin typeface="Aptos Narrow" panose="020B0004020202020204" pitchFamily="34" charset="0"/>
                          <a:hlinkClick r:id="rId2"/>
                        </a:rPr>
                        <a:t>LangChain</a:t>
                      </a:r>
                      <a:endParaRPr lang="en-IN" sz="2400">
                        <a:latin typeface="Aptos Narrow" panose="020B0004020202020204" pitchFamily="34" charset="0"/>
                      </a:endParaRPr>
                    </a:p>
                  </a:txBody>
                  <a:tcPr anchor="ctr"/>
                </a:tc>
                <a:tc>
                  <a:txBody>
                    <a:bodyPr/>
                    <a:lstStyle/>
                    <a:p>
                      <a:pPr>
                        <a:buNone/>
                      </a:pPr>
                      <a:r>
                        <a:rPr lang="en-US" sz="2400">
                          <a:latin typeface="Aptos Narrow" panose="020B0004020202020204" pitchFamily="34" charset="0"/>
                        </a:rPr>
                        <a:t>Most widely used learning framework</a:t>
                      </a:r>
                    </a:p>
                  </a:txBody>
                  <a:tcPr anchor="ctr"/>
                </a:tc>
                <a:extLst>
                  <a:ext uri="{0D108BD9-81ED-4DB2-BD59-A6C34878D82A}">
                    <a16:rowId xmlns:a16="http://schemas.microsoft.com/office/drawing/2014/main" val="1882522109"/>
                  </a:ext>
                </a:extLst>
              </a:tr>
              <a:tr h="0">
                <a:tc>
                  <a:txBody>
                    <a:bodyPr/>
                    <a:lstStyle/>
                    <a:p>
                      <a:pPr>
                        <a:buNone/>
                      </a:pPr>
                      <a:r>
                        <a:rPr lang="en-IN" sz="2400">
                          <a:latin typeface="Aptos Narrow" panose="020B0004020202020204" pitchFamily="34" charset="0"/>
                          <a:hlinkClick r:id="rId3"/>
                        </a:rPr>
                        <a:t>LlamaIndex</a:t>
                      </a:r>
                      <a:endParaRPr lang="en-IN" sz="2400">
                        <a:latin typeface="Aptos Narrow" panose="020B0004020202020204" pitchFamily="34" charset="0"/>
                      </a:endParaRPr>
                    </a:p>
                  </a:txBody>
                  <a:tcPr anchor="ctr"/>
                </a:tc>
                <a:tc>
                  <a:txBody>
                    <a:bodyPr/>
                    <a:lstStyle/>
                    <a:p>
                      <a:pPr>
                        <a:buNone/>
                      </a:pPr>
                      <a:r>
                        <a:rPr lang="en-IN" sz="2400">
                          <a:latin typeface="Aptos Narrow" panose="020B0004020202020204" pitchFamily="34" charset="0"/>
                        </a:rPr>
                        <a:t>Strong for RAG pipelines</a:t>
                      </a:r>
                    </a:p>
                  </a:txBody>
                  <a:tcPr anchor="ctr"/>
                </a:tc>
                <a:extLst>
                  <a:ext uri="{0D108BD9-81ED-4DB2-BD59-A6C34878D82A}">
                    <a16:rowId xmlns:a16="http://schemas.microsoft.com/office/drawing/2014/main" val="3515525715"/>
                  </a:ext>
                </a:extLst>
              </a:tr>
              <a:tr h="0">
                <a:tc>
                  <a:txBody>
                    <a:bodyPr/>
                    <a:lstStyle/>
                    <a:p>
                      <a:pPr>
                        <a:buNone/>
                      </a:pPr>
                      <a:r>
                        <a:rPr lang="en-IN" sz="2400">
                          <a:latin typeface="Aptos Narrow" panose="020B0004020202020204" pitchFamily="34" charset="0"/>
                          <a:hlinkClick r:id="rId4"/>
                        </a:rPr>
                        <a:t>Haystack</a:t>
                      </a:r>
                      <a:endParaRPr lang="en-IN" sz="2400">
                        <a:latin typeface="Aptos Narrow" panose="020B0004020202020204" pitchFamily="34" charset="0"/>
                      </a:endParaRPr>
                    </a:p>
                  </a:txBody>
                  <a:tcPr anchor="ctr"/>
                </a:tc>
                <a:tc>
                  <a:txBody>
                    <a:bodyPr/>
                    <a:lstStyle/>
                    <a:p>
                      <a:pPr>
                        <a:buNone/>
                      </a:pPr>
                      <a:r>
                        <a:rPr lang="en-IN" sz="2400">
                          <a:latin typeface="Aptos Narrow" panose="020B0004020202020204" pitchFamily="34" charset="0"/>
                        </a:rPr>
                        <a:t>Enterprise NLP pipelines</a:t>
                      </a:r>
                    </a:p>
                  </a:txBody>
                  <a:tcPr anchor="ctr"/>
                </a:tc>
                <a:extLst>
                  <a:ext uri="{0D108BD9-81ED-4DB2-BD59-A6C34878D82A}">
                    <a16:rowId xmlns:a16="http://schemas.microsoft.com/office/drawing/2014/main" val="1311657353"/>
                  </a:ext>
                </a:extLst>
              </a:tr>
              <a:tr h="0">
                <a:tc>
                  <a:txBody>
                    <a:bodyPr/>
                    <a:lstStyle/>
                    <a:p>
                      <a:pPr>
                        <a:buNone/>
                      </a:pPr>
                      <a:r>
                        <a:rPr lang="en-IN" sz="2400">
                          <a:latin typeface="Aptos Narrow" panose="020B0004020202020204" pitchFamily="34" charset="0"/>
                          <a:hlinkClick r:id="rId5"/>
                        </a:rPr>
                        <a:t>Semantic Kernel</a:t>
                      </a:r>
                      <a:endParaRPr lang="en-IN" sz="2400">
                        <a:latin typeface="Aptos Narrow" panose="020B0004020202020204" pitchFamily="34" charset="0"/>
                      </a:endParaRPr>
                    </a:p>
                  </a:txBody>
                  <a:tcPr anchor="ctr"/>
                </a:tc>
                <a:tc>
                  <a:txBody>
                    <a:bodyPr/>
                    <a:lstStyle/>
                    <a:p>
                      <a:pPr>
                        <a:buNone/>
                      </a:pPr>
                      <a:r>
                        <a:rPr lang="en-IN" sz="2400">
                          <a:latin typeface="Aptos Narrow" panose="020B0004020202020204" pitchFamily="34" charset="0"/>
                        </a:rPr>
                        <a:t>Microsoft orchestration framework</a:t>
                      </a:r>
                    </a:p>
                  </a:txBody>
                  <a:tcPr anchor="ctr"/>
                </a:tc>
                <a:extLst>
                  <a:ext uri="{0D108BD9-81ED-4DB2-BD59-A6C34878D82A}">
                    <a16:rowId xmlns:a16="http://schemas.microsoft.com/office/drawing/2014/main" val="322401146"/>
                  </a:ext>
                </a:extLst>
              </a:tr>
              <a:tr h="0">
                <a:tc>
                  <a:txBody>
                    <a:bodyPr/>
                    <a:lstStyle/>
                    <a:p>
                      <a:pPr>
                        <a:buNone/>
                      </a:pPr>
                      <a:r>
                        <a:rPr lang="en-IN" sz="2400">
                          <a:latin typeface="Aptos Narrow" panose="020B0004020202020204" pitchFamily="34" charset="0"/>
                        </a:rPr>
                        <a:t>Leader</a:t>
                      </a:r>
                    </a:p>
                  </a:txBody>
                  <a:tcPr anchor="ctr"/>
                </a:tc>
                <a:tc>
                  <a:txBody>
                    <a:bodyPr/>
                    <a:lstStyle/>
                    <a:p>
                      <a:pPr>
                        <a:buNone/>
                      </a:pPr>
                      <a:r>
                        <a:rPr lang="en-IN" sz="2400">
                          <a:latin typeface="Aptos Narrow" panose="020B0004020202020204" pitchFamily="34" charset="0"/>
                        </a:rPr>
                        <a:t>Notes</a:t>
                      </a:r>
                    </a:p>
                  </a:txBody>
                  <a:tcPr anchor="ctr"/>
                </a:tc>
                <a:extLst>
                  <a:ext uri="{0D108BD9-81ED-4DB2-BD59-A6C34878D82A}">
                    <a16:rowId xmlns:a16="http://schemas.microsoft.com/office/drawing/2014/main" val="2165017877"/>
                  </a:ext>
                </a:extLst>
              </a:tr>
              <a:tr h="0">
                <a:tc>
                  <a:txBody>
                    <a:bodyPr/>
                    <a:lstStyle/>
                    <a:p>
                      <a:pPr>
                        <a:buNone/>
                      </a:pPr>
                      <a:r>
                        <a:rPr lang="en-IN" sz="2400">
                          <a:latin typeface="Aptos Narrow" panose="020B0004020202020204" pitchFamily="34" charset="0"/>
                          <a:hlinkClick r:id="rId2"/>
                        </a:rPr>
                        <a:t>LangChain</a:t>
                      </a:r>
                      <a:endParaRPr lang="en-IN" sz="2400">
                        <a:latin typeface="Aptos Narrow" panose="020B0004020202020204" pitchFamily="34" charset="0"/>
                      </a:endParaRPr>
                    </a:p>
                  </a:txBody>
                  <a:tcPr anchor="ctr"/>
                </a:tc>
                <a:tc>
                  <a:txBody>
                    <a:bodyPr/>
                    <a:lstStyle/>
                    <a:p>
                      <a:pPr>
                        <a:buNone/>
                      </a:pPr>
                      <a:r>
                        <a:rPr lang="en-US" sz="2400">
                          <a:latin typeface="Aptos Narrow" panose="020B0004020202020204" pitchFamily="34" charset="0"/>
                        </a:rPr>
                        <a:t>Most widely used learning framework</a:t>
                      </a:r>
                    </a:p>
                  </a:txBody>
                  <a:tcPr anchor="ctr"/>
                </a:tc>
                <a:extLst>
                  <a:ext uri="{0D108BD9-81ED-4DB2-BD59-A6C34878D82A}">
                    <a16:rowId xmlns:a16="http://schemas.microsoft.com/office/drawing/2014/main" val="1325051933"/>
                  </a:ext>
                </a:extLst>
              </a:tr>
              <a:tr h="0">
                <a:tc>
                  <a:txBody>
                    <a:bodyPr/>
                    <a:lstStyle/>
                    <a:p>
                      <a:pPr>
                        <a:buNone/>
                      </a:pPr>
                      <a:r>
                        <a:rPr lang="en-IN" sz="2400" dirty="0" err="1">
                          <a:latin typeface="Aptos Narrow" panose="020B0004020202020204" pitchFamily="34" charset="0"/>
                          <a:hlinkClick r:id="rId3"/>
                        </a:rPr>
                        <a:t>LlamaIndex</a:t>
                      </a:r>
                      <a:endParaRPr lang="en-IN" sz="2400" dirty="0">
                        <a:latin typeface="Aptos Narrow" panose="020B0004020202020204" pitchFamily="34" charset="0"/>
                      </a:endParaRPr>
                    </a:p>
                  </a:txBody>
                  <a:tcPr anchor="ctr"/>
                </a:tc>
                <a:tc>
                  <a:txBody>
                    <a:bodyPr/>
                    <a:lstStyle/>
                    <a:p>
                      <a:pPr>
                        <a:buNone/>
                      </a:pPr>
                      <a:r>
                        <a:rPr lang="en-IN" sz="2400" dirty="0">
                          <a:latin typeface="Aptos Narrow" panose="020B0004020202020204" pitchFamily="34" charset="0"/>
                        </a:rPr>
                        <a:t>Strong for RAG pipelines</a:t>
                      </a:r>
                    </a:p>
                  </a:txBody>
                  <a:tcPr anchor="ctr"/>
                </a:tc>
                <a:extLst>
                  <a:ext uri="{0D108BD9-81ED-4DB2-BD59-A6C34878D82A}">
                    <a16:rowId xmlns:a16="http://schemas.microsoft.com/office/drawing/2014/main" val="1032979721"/>
                  </a:ext>
                </a:extLst>
              </a:tr>
            </a:tbl>
          </a:graphicData>
        </a:graphic>
      </p:graphicFrame>
    </p:spTree>
    <p:extLst>
      <p:ext uri="{BB962C8B-B14F-4D97-AF65-F5344CB8AC3E}">
        <p14:creationId xmlns:p14="http://schemas.microsoft.com/office/powerpoint/2010/main" val="1647764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00BE-B6D4-57FF-4846-2720026F4A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ED77E0-ACB7-1104-1298-2FEC7A15A31C}"/>
              </a:ext>
            </a:extLst>
          </p:cNvPr>
          <p:cNvSpPr txBox="1"/>
          <p:nvPr/>
        </p:nvSpPr>
        <p:spPr>
          <a:xfrm>
            <a:off x="457200" y="91440"/>
            <a:ext cx="3197735" cy="584775"/>
          </a:xfrm>
          <a:prstGeom prst="rect">
            <a:avLst/>
          </a:prstGeom>
          <a:noFill/>
        </p:spPr>
        <p:txBody>
          <a:bodyPr wrap="none">
            <a:spAutoFit/>
          </a:bodyPr>
          <a:lstStyle/>
          <a:p>
            <a:r>
              <a:rPr lang="en-IN" sz="3200" b="1" dirty="0">
                <a:latin typeface="Aptos Narrow" panose="020B0004020202020204" pitchFamily="34" charset="0"/>
              </a:rPr>
              <a:t>Reranking Models</a:t>
            </a:r>
            <a:endParaRPr sz="3000" b="1" dirty="0">
              <a:solidFill>
                <a:srgbClr val="1C395E"/>
              </a:solidFill>
              <a:latin typeface="Aptos Narrow" panose="020B0004020202020204" pitchFamily="34" charset="0"/>
            </a:endParaRPr>
          </a:p>
        </p:txBody>
      </p:sp>
      <p:sp>
        <p:nvSpPr>
          <p:cNvPr id="3" name="Rectangle 2">
            <a:extLst>
              <a:ext uri="{FF2B5EF4-FFF2-40B4-BE49-F238E27FC236}">
                <a16:creationId xmlns:a16="http://schemas.microsoft.com/office/drawing/2014/main" id="{A2256DDB-585B-88B7-8E8D-354A97C25964}"/>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F7ECCC7C-DA18-3C18-BD84-10A0C6C09CA2}"/>
              </a:ext>
            </a:extLst>
          </p:cNvPr>
          <p:cNvGraphicFramePr>
            <a:graphicFrameLocks noGrp="1"/>
          </p:cNvGraphicFramePr>
          <p:nvPr>
            <p:extLst>
              <p:ext uri="{D42A27DB-BD31-4B8C-83A1-F6EECF244321}">
                <p14:modId xmlns:p14="http://schemas.microsoft.com/office/powerpoint/2010/main" val="1239714383"/>
              </p:ext>
            </p:extLst>
          </p:nvPr>
        </p:nvGraphicFramePr>
        <p:xfrm>
          <a:off x="571500" y="1493361"/>
          <a:ext cx="8229600" cy="2072640"/>
        </p:xfrm>
        <a:graphic>
          <a:graphicData uri="http://schemas.openxmlformats.org/drawingml/2006/table">
            <a:tbl>
              <a:tblPr>
                <a:tableStyleId>{616DA210-FB5B-4158-B5E0-FEB733F419BA}</a:tableStyleId>
              </a:tblPr>
              <a:tblGrid>
                <a:gridCol w="4114800">
                  <a:extLst>
                    <a:ext uri="{9D8B030D-6E8A-4147-A177-3AD203B41FA5}">
                      <a16:colId xmlns:a16="http://schemas.microsoft.com/office/drawing/2014/main" val="592165099"/>
                    </a:ext>
                  </a:extLst>
                </a:gridCol>
                <a:gridCol w="4114800">
                  <a:extLst>
                    <a:ext uri="{9D8B030D-6E8A-4147-A177-3AD203B41FA5}">
                      <a16:colId xmlns:a16="http://schemas.microsoft.com/office/drawing/2014/main" val="3353978000"/>
                    </a:ext>
                  </a:extLst>
                </a:gridCol>
              </a:tblGrid>
              <a:tr h="0">
                <a:tc>
                  <a:txBody>
                    <a:bodyPr/>
                    <a:lstStyle/>
                    <a:p>
                      <a:pPr>
                        <a:buNone/>
                      </a:pPr>
                      <a:r>
                        <a:rPr lang="en-IN" sz="2800" b="1" dirty="0"/>
                        <a:t>Leader</a:t>
                      </a:r>
                    </a:p>
                  </a:txBody>
                  <a:tcPr anchor="ctr"/>
                </a:tc>
                <a:tc>
                  <a:txBody>
                    <a:bodyPr/>
                    <a:lstStyle/>
                    <a:p>
                      <a:pPr>
                        <a:buNone/>
                      </a:pPr>
                      <a:r>
                        <a:rPr lang="en-IN" sz="2800" b="1" dirty="0"/>
                        <a:t>Notes</a:t>
                      </a:r>
                    </a:p>
                  </a:txBody>
                  <a:tcPr anchor="ctr"/>
                </a:tc>
                <a:extLst>
                  <a:ext uri="{0D108BD9-81ED-4DB2-BD59-A6C34878D82A}">
                    <a16:rowId xmlns:a16="http://schemas.microsoft.com/office/drawing/2014/main" val="3580478672"/>
                  </a:ext>
                </a:extLst>
              </a:tr>
              <a:tr h="0">
                <a:tc>
                  <a:txBody>
                    <a:bodyPr/>
                    <a:lstStyle/>
                    <a:p>
                      <a:pPr>
                        <a:buNone/>
                      </a:pPr>
                      <a:r>
                        <a:rPr lang="en-IN" sz="2800">
                          <a:hlinkClick r:id="rId2"/>
                        </a:rPr>
                        <a:t>Cohere Rerank</a:t>
                      </a:r>
                      <a:endParaRPr lang="en-IN" sz="2800"/>
                    </a:p>
                  </a:txBody>
                  <a:tcPr anchor="ctr"/>
                </a:tc>
                <a:tc>
                  <a:txBody>
                    <a:bodyPr/>
                    <a:lstStyle/>
                    <a:p>
                      <a:pPr>
                        <a:buNone/>
                      </a:pPr>
                      <a:r>
                        <a:rPr lang="en-IN" sz="2800"/>
                        <a:t>Industry favorite</a:t>
                      </a:r>
                    </a:p>
                  </a:txBody>
                  <a:tcPr anchor="ctr"/>
                </a:tc>
                <a:extLst>
                  <a:ext uri="{0D108BD9-81ED-4DB2-BD59-A6C34878D82A}">
                    <a16:rowId xmlns:a16="http://schemas.microsoft.com/office/drawing/2014/main" val="3715872005"/>
                  </a:ext>
                </a:extLst>
              </a:tr>
              <a:tr h="0">
                <a:tc>
                  <a:txBody>
                    <a:bodyPr/>
                    <a:lstStyle/>
                    <a:p>
                      <a:pPr>
                        <a:buNone/>
                      </a:pPr>
                      <a:r>
                        <a:rPr lang="en-IN" sz="2800">
                          <a:hlinkClick r:id="rId3"/>
                        </a:rPr>
                        <a:t>Cross-Encoders SBERT</a:t>
                      </a:r>
                      <a:endParaRPr lang="en-IN" sz="2800"/>
                    </a:p>
                  </a:txBody>
                  <a:tcPr anchor="ctr"/>
                </a:tc>
                <a:tc>
                  <a:txBody>
                    <a:bodyPr/>
                    <a:lstStyle/>
                    <a:p>
                      <a:pPr>
                        <a:buNone/>
                      </a:pPr>
                      <a:r>
                        <a:rPr lang="en-IN" sz="2800"/>
                        <a:t>Open-source rerankers</a:t>
                      </a:r>
                    </a:p>
                  </a:txBody>
                  <a:tcPr anchor="ctr"/>
                </a:tc>
                <a:extLst>
                  <a:ext uri="{0D108BD9-81ED-4DB2-BD59-A6C34878D82A}">
                    <a16:rowId xmlns:a16="http://schemas.microsoft.com/office/drawing/2014/main" val="1404563820"/>
                  </a:ext>
                </a:extLst>
              </a:tr>
              <a:tr h="0">
                <a:tc>
                  <a:txBody>
                    <a:bodyPr/>
                    <a:lstStyle/>
                    <a:p>
                      <a:pPr>
                        <a:buNone/>
                      </a:pPr>
                      <a:r>
                        <a:rPr lang="en-IN" sz="2800">
                          <a:hlinkClick r:id="rId4"/>
                        </a:rPr>
                        <a:t>Jina AI</a:t>
                      </a:r>
                      <a:endParaRPr lang="en-IN" sz="2800"/>
                    </a:p>
                  </a:txBody>
                  <a:tcPr anchor="ctr"/>
                </a:tc>
                <a:tc>
                  <a:txBody>
                    <a:bodyPr/>
                    <a:lstStyle/>
                    <a:p>
                      <a:pPr>
                        <a:buNone/>
                      </a:pPr>
                      <a:r>
                        <a:rPr lang="en-IN" sz="2800" dirty="0"/>
                        <a:t>Modern reranking/search</a:t>
                      </a:r>
                    </a:p>
                  </a:txBody>
                  <a:tcPr anchor="ctr"/>
                </a:tc>
                <a:extLst>
                  <a:ext uri="{0D108BD9-81ED-4DB2-BD59-A6C34878D82A}">
                    <a16:rowId xmlns:a16="http://schemas.microsoft.com/office/drawing/2014/main" val="2165995027"/>
                  </a:ext>
                </a:extLst>
              </a:tr>
            </a:tbl>
          </a:graphicData>
        </a:graphic>
      </p:graphicFrame>
    </p:spTree>
    <p:extLst>
      <p:ext uri="{BB962C8B-B14F-4D97-AF65-F5344CB8AC3E}">
        <p14:creationId xmlns:p14="http://schemas.microsoft.com/office/powerpoint/2010/main" val="726823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EA11-6240-9B85-07A0-560B985F5F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B80086-E345-771E-E9F7-0DEA2FC2D6E0}"/>
              </a:ext>
            </a:extLst>
          </p:cNvPr>
          <p:cNvSpPr txBox="1"/>
          <p:nvPr/>
        </p:nvSpPr>
        <p:spPr>
          <a:xfrm>
            <a:off x="457200" y="186690"/>
            <a:ext cx="7962900" cy="553998"/>
          </a:xfrm>
          <a:prstGeom prst="rect">
            <a:avLst/>
          </a:prstGeom>
          <a:noFill/>
        </p:spPr>
        <p:txBody>
          <a:bodyPr wrap="square">
            <a:spAutoFit/>
          </a:bodyPr>
          <a:lstStyle/>
          <a:p>
            <a:pPr algn="l">
              <a:spcBef>
                <a:spcPts val="0"/>
              </a:spcBef>
            </a:pPr>
            <a:r>
              <a:rPr lang="en-IN" sz="3000" b="1" dirty="0">
                <a:solidFill>
                  <a:srgbClr val="1C395E"/>
                </a:solidFill>
                <a:latin typeface="Aptos Narrow"/>
              </a:rPr>
              <a:t>Enterprise Data Sources (DE Perspective)</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181F0032-118D-5681-DD71-A713BA52B3DB}"/>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AFFC3D04-4E62-0914-8D2D-8DDEFEBBFF9C}"/>
              </a:ext>
            </a:extLst>
          </p:cNvPr>
          <p:cNvSpPr txBox="1"/>
          <p:nvPr/>
        </p:nvSpPr>
        <p:spPr>
          <a:xfrm>
            <a:off x="431006" y="1221939"/>
            <a:ext cx="6100762" cy="3970318"/>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Aptos Narrow" panose="020B0004020202020204" pitchFamily="34" charset="0"/>
              </a:rPr>
              <a:t>Snowflake</a:t>
            </a:r>
          </a:p>
          <a:p>
            <a:pPr marL="457200" indent="-457200">
              <a:buFont typeface="Arial" panose="020B0604020202020204" pitchFamily="34" charset="0"/>
              <a:buChar char="•"/>
            </a:pPr>
            <a:r>
              <a:rPr lang="en-IN" sz="2800" dirty="0">
                <a:latin typeface="Aptos Narrow" panose="020B0004020202020204" pitchFamily="34" charset="0"/>
              </a:rPr>
              <a:t>Databricks</a:t>
            </a:r>
          </a:p>
          <a:p>
            <a:pPr marL="457200" indent="-457200">
              <a:buFont typeface="Arial" panose="020B0604020202020204" pitchFamily="34" charset="0"/>
              <a:buChar char="•"/>
            </a:pPr>
            <a:r>
              <a:rPr lang="en-IN" sz="2800" dirty="0">
                <a:latin typeface="Aptos Narrow" panose="020B0004020202020204" pitchFamily="34" charset="0"/>
              </a:rPr>
              <a:t>SharePoint</a:t>
            </a:r>
          </a:p>
          <a:p>
            <a:pPr marL="457200" indent="-457200">
              <a:buFont typeface="Arial" panose="020B0604020202020204" pitchFamily="34" charset="0"/>
              <a:buChar char="•"/>
            </a:pPr>
            <a:r>
              <a:rPr lang="en-IN" sz="2800" dirty="0">
                <a:latin typeface="Aptos Narrow" panose="020B0004020202020204" pitchFamily="34" charset="0"/>
              </a:rPr>
              <a:t>Confluence</a:t>
            </a:r>
          </a:p>
          <a:p>
            <a:pPr marL="457200" indent="-457200">
              <a:buFont typeface="Arial" panose="020B0604020202020204" pitchFamily="34" charset="0"/>
              <a:buChar char="•"/>
            </a:pPr>
            <a:r>
              <a:rPr lang="en-IN" sz="2800" dirty="0">
                <a:latin typeface="Aptos Narrow" panose="020B0004020202020204" pitchFamily="34" charset="0"/>
              </a:rPr>
              <a:t>Jira</a:t>
            </a:r>
          </a:p>
          <a:p>
            <a:pPr marL="457200" indent="-457200">
              <a:buFont typeface="Arial" panose="020B0604020202020204" pitchFamily="34" charset="0"/>
              <a:buChar char="•"/>
            </a:pPr>
            <a:r>
              <a:rPr lang="en-IN" sz="2800" dirty="0">
                <a:latin typeface="Aptos Narrow" panose="020B0004020202020204" pitchFamily="34" charset="0"/>
              </a:rPr>
              <a:t>PDFs</a:t>
            </a:r>
          </a:p>
          <a:p>
            <a:pPr marL="457200" indent="-457200">
              <a:buFont typeface="Arial" panose="020B0604020202020204" pitchFamily="34" charset="0"/>
              <a:buChar char="•"/>
            </a:pPr>
            <a:r>
              <a:rPr lang="en-IN" sz="2800" dirty="0">
                <a:latin typeface="Aptos Narrow" panose="020B0004020202020204" pitchFamily="34" charset="0"/>
              </a:rPr>
              <a:t>SQL DBs</a:t>
            </a:r>
          </a:p>
          <a:p>
            <a:pPr marL="457200" indent="-457200">
              <a:buFont typeface="Arial" panose="020B0604020202020204" pitchFamily="34" charset="0"/>
              <a:buChar char="•"/>
            </a:pPr>
            <a:r>
              <a:rPr lang="en-IN" sz="2800" dirty="0">
                <a:latin typeface="Aptos Narrow" panose="020B0004020202020204" pitchFamily="34" charset="0"/>
              </a:rPr>
              <a:t>Data </a:t>
            </a:r>
            <a:r>
              <a:rPr lang="en-IN" sz="2800" dirty="0" err="1">
                <a:latin typeface="Aptos Narrow" panose="020B0004020202020204" pitchFamily="34" charset="0"/>
              </a:rPr>
              <a:t>Catalogs</a:t>
            </a:r>
            <a:endParaRPr lang="en-IN" sz="2800" dirty="0">
              <a:latin typeface="Aptos Narrow" panose="020B0004020202020204" pitchFamily="34" charset="0"/>
            </a:endParaRPr>
          </a:p>
          <a:p>
            <a:pPr marL="457200" indent="-457200">
              <a:buFont typeface="Arial" panose="020B0604020202020204" pitchFamily="34" charset="0"/>
              <a:buChar char="•"/>
            </a:pPr>
            <a:r>
              <a:rPr lang="en-IN" sz="2800" dirty="0">
                <a:latin typeface="Aptos Narrow" panose="020B0004020202020204" pitchFamily="34" charset="0"/>
              </a:rPr>
              <a:t>S3/Data Lake</a:t>
            </a:r>
          </a:p>
        </p:txBody>
      </p:sp>
    </p:spTree>
    <p:extLst>
      <p:ext uri="{BB962C8B-B14F-4D97-AF65-F5344CB8AC3E}">
        <p14:creationId xmlns:p14="http://schemas.microsoft.com/office/powerpoint/2010/main" val="3560435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2826-85B7-964E-8D92-199A6ED06D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EB171B-4599-11F2-4D7B-6B36C5279BFE}"/>
              </a:ext>
            </a:extLst>
          </p:cNvPr>
          <p:cNvSpPr txBox="1"/>
          <p:nvPr/>
        </p:nvSpPr>
        <p:spPr>
          <a:xfrm>
            <a:off x="457200" y="186690"/>
            <a:ext cx="7962900" cy="553998"/>
          </a:xfrm>
          <a:prstGeom prst="rect">
            <a:avLst/>
          </a:prstGeom>
          <a:noFill/>
        </p:spPr>
        <p:txBody>
          <a:bodyPr wrap="square">
            <a:spAutoFit/>
          </a:bodyPr>
          <a:lstStyle/>
          <a:p>
            <a:pPr algn="l">
              <a:spcBef>
                <a:spcPts val="0"/>
              </a:spcBef>
            </a:pPr>
            <a:r>
              <a:rPr lang="en-US" sz="3000" b="1" dirty="0">
                <a:solidFill>
                  <a:srgbClr val="1C395E"/>
                </a:solidFill>
                <a:latin typeface="Aptos Narrow"/>
              </a:rPr>
              <a:t>Scope of RAG – What Types of Data Can It Handle?</a:t>
            </a:r>
          </a:p>
        </p:txBody>
      </p:sp>
      <p:sp>
        <p:nvSpPr>
          <p:cNvPr id="3" name="Rectangle 2">
            <a:extLst>
              <a:ext uri="{FF2B5EF4-FFF2-40B4-BE49-F238E27FC236}">
                <a16:creationId xmlns:a16="http://schemas.microsoft.com/office/drawing/2014/main" id="{171F81DF-655D-2DBD-E00A-19A7F7F56D8C}"/>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a:extLst>
              <a:ext uri="{FF2B5EF4-FFF2-40B4-BE49-F238E27FC236}">
                <a16:creationId xmlns:a16="http://schemas.microsoft.com/office/drawing/2014/main" id="{502BBEE9-CD7C-0CAA-66D3-87786E69296E}"/>
              </a:ext>
            </a:extLst>
          </p:cNvPr>
          <p:cNvGraphicFramePr>
            <a:graphicFrameLocks noGrp="1"/>
          </p:cNvGraphicFramePr>
          <p:nvPr>
            <p:extLst>
              <p:ext uri="{D42A27DB-BD31-4B8C-83A1-F6EECF244321}">
                <p14:modId xmlns:p14="http://schemas.microsoft.com/office/powerpoint/2010/main" val="3812576370"/>
              </p:ext>
            </p:extLst>
          </p:nvPr>
        </p:nvGraphicFramePr>
        <p:xfrm>
          <a:off x="238125" y="1275611"/>
          <a:ext cx="11449051" cy="5376840"/>
        </p:xfrm>
        <a:graphic>
          <a:graphicData uri="http://schemas.openxmlformats.org/drawingml/2006/table">
            <a:tbl>
              <a:tblPr/>
              <a:tblGrid>
                <a:gridCol w="693586">
                  <a:extLst>
                    <a:ext uri="{9D8B030D-6E8A-4147-A177-3AD203B41FA5}">
                      <a16:colId xmlns:a16="http://schemas.microsoft.com/office/drawing/2014/main" val="1286852808"/>
                    </a:ext>
                  </a:extLst>
                </a:gridCol>
                <a:gridCol w="2621114">
                  <a:extLst>
                    <a:ext uri="{9D8B030D-6E8A-4147-A177-3AD203B41FA5}">
                      <a16:colId xmlns:a16="http://schemas.microsoft.com/office/drawing/2014/main" val="3859319729"/>
                    </a:ext>
                  </a:extLst>
                </a:gridCol>
                <a:gridCol w="3295650">
                  <a:extLst>
                    <a:ext uri="{9D8B030D-6E8A-4147-A177-3AD203B41FA5}">
                      <a16:colId xmlns:a16="http://schemas.microsoft.com/office/drawing/2014/main" val="183696671"/>
                    </a:ext>
                  </a:extLst>
                </a:gridCol>
                <a:gridCol w="2548891">
                  <a:extLst>
                    <a:ext uri="{9D8B030D-6E8A-4147-A177-3AD203B41FA5}">
                      <a16:colId xmlns:a16="http://schemas.microsoft.com/office/drawing/2014/main" val="946076513"/>
                    </a:ext>
                  </a:extLst>
                </a:gridCol>
                <a:gridCol w="2289810">
                  <a:extLst>
                    <a:ext uri="{9D8B030D-6E8A-4147-A177-3AD203B41FA5}">
                      <a16:colId xmlns:a16="http://schemas.microsoft.com/office/drawing/2014/main" val="1082211218"/>
                    </a:ext>
                  </a:extLst>
                </a:gridCol>
              </a:tblGrid>
              <a:tr h="304632">
                <a:tc>
                  <a:txBody>
                    <a:bodyPr/>
                    <a:lstStyle/>
                    <a:p>
                      <a:pPr>
                        <a:buNone/>
                      </a:pPr>
                      <a:r>
                        <a:rPr lang="en-IN" sz="1800">
                          <a:latin typeface="Aptos Narrow" panose="020B0004020202020204" pitchFamily="34" charset="0"/>
                        </a:rPr>
                        <a:t>Rank</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RAG Type</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Data Type</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Typical Use Cases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Industry Maturity</a:t>
                      </a:r>
                    </a:p>
                  </a:txBody>
                  <a:tcPr marL="43519" marR="43519" marT="21759" marB="21759" anchor="ctr">
                    <a:lnL>
                      <a:noFill/>
                    </a:lnL>
                    <a:lnR>
                      <a:noFill/>
                    </a:lnR>
                    <a:lnT>
                      <a:noFill/>
                    </a:lnT>
                    <a:lnB>
                      <a:noFill/>
                    </a:lnB>
                    <a:noFill/>
                  </a:tcPr>
                </a:tc>
                <a:extLst>
                  <a:ext uri="{0D108BD9-81ED-4DB2-BD59-A6C34878D82A}">
                    <a16:rowId xmlns:a16="http://schemas.microsoft.com/office/drawing/2014/main" val="3241167476"/>
                  </a:ext>
                </a:extLst>
              </a:tr>
              <a:tr h="565745">
                <a:tc>
                  <a:txBody>
                    <a:bodyPr/>
                    <a:lstStyle/>
                    <a:p>
                      <a:pPr>
                        <a:buNone/>
                      </a:pPr>
                      <a:r>
                        <a:rPr lang="en-IN" sz="1800">
                          <a:latin typeface="Aptos Narrow" panose="020B0004020202020204" pitchFamily="34" charset="0"/>
                        </a:rPr>
                        <a:t>🥇 1</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Document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PDFs, DOCs, PPTs, Policies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Enterprise Knowledge Assistants, Chatbots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Most Mature</a:t>
                      </a:r>
                    </a:p>
                  </a:txBody>
                  <a:tcPr marL="43519" marR="43519" marT="21759" marB="21759" anchor="ctr">
                    <a:lnL>
                      <a:noFill/>
                    </a:lnL>
                    <a:lnR>
                      <a:noFill/>
                    </a:lnR>
                    <a:lnT>
                      <a:noFill/>
                    </a:lnT>
                    <a:lnB>
                      <a:noFill/>
                    </a:lnB>
                    <a:noFill/>
                  </a:tcPr>
                </a:tc>
                <a:extLst>
                  <a:ext uri="{0D108BD9-81ED-4DB2-BD59-A6C34878D82A}">
                    <a16:rowId xmlns:a16="http://schemas.microsoft.com/office/drawing/2014/main" val="1066888569"/>
                  </a:ext>
                </a:extLst>
              </a:tr>
              <a:tr h="435189">
                <a:tc>
                  <a:txBody>
                    <a:bodyPr/>
                    <a:lstStyle/>
                    <a:p>
                      <a:pPr>
                        <a:buNone/>
                      </a:pPr>
                      <a:r>
                        <a:rPr lang="en-IN" sz="1800">
                          <a:latin typeface="Aptos Narrow" panose="020B0004020202020204" pitchFamily="34" charset="0"/>
                        </a:rPr>
                        <a:t>🥈 2</a:t>
                      </a:r>
                    </a:p>
                  </a:txBody>
                  <a:tcPr marL="43519" marR="43519" marT="21759" marB="21759" anchor="ctr">
                    <a:lnL>
                      <a:noFill/>
                    </a:lnL>
                    <a:lnR>
                      <a:noFill/>
                    </a:lnR>
                    <a:lnT>
                      <a:noFill/>
                    </a:lnT>
                    <a:lnB>
                      <a:noFill/>
                    </a:lnB>
                    <a:noFill/>
                  </a:tcPr>
                </a:tc>
                <a:tc>
                  <a:txBody>
                    <a:bodyPr/>
                    <a:lstStyle/>
                    <a:p>
                      <a:pPr>
                        <a:buNone/>
                      </a:pPr>
                      <a:r>
                        <a:rPr lang="en-IN" sz="1800" b="1" dirty="0">
                          <a:latin typeface="Aptos Narrow" panose="020B0004020202020204" pitchFamily="34" charset="0"/>
                        </a:rPr>
                        <a:t>Structured/Table RAG</a:t>
                      </a:r>
                      <a:endParaRPr lang="en-IN" sz="1800" dirty="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Tables, Schemas, Data Dictionaries</a:t>
                      </a:r>
                    </a:p>
                  </a:txBody>
                  <a:tcPr marL="43519" marR="43519" marT="21759" marB="21759" anchor="ctr">
                    <a:lnL>
                      <a:noFill/>
                    </a:lnL>
                    <a:lnR>
                      <a:noFill/>
                    </a:lnR>
                    <a:lnT>
                      <a:noFill/>
                    </a:lnT>
                    <a:lnB>
                      <a:noFill/>
                    </a:lnB>
                    <a:noFill/>
                  </a:tcPr>
                </a:tc>
                <a:tc>
                  <a:txBody>
                    <a:bodyPr/>
                    <a:lstStyle/>
                    <a:p>
                      <a:pPr>
                        <a:buNone/>
                      </a:pPr>
                      <a:r>
                        <a:rPr lang="en-US" sz="1800">
                          <a:latin typeface="Aptos Narrow" panose="020B0004020202020204" pitchFamily="34" charset="0"/>
                        </a:rPr>
                        <a:t>Text-to-SQL, BI Copilots, Data Discovery</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Fastest Growing</a:t>
                      </a:r>
                    </a:p>
                  </a:txBody>
                  <a:tcPr marL="43519" marR="43519" marT="21759" marB="21759" anchor="ctr">
                    <a:lnL>
                      <a:noFill/>
                    </a:lnL>
                    <a:lnR>
                      <a:noFill/>
                    </a:lnR>
                    <a:lnT>
                      <a:noFill/>
                    </a:lnT>
                    <a:lnB>
                      <a:noFill/>
                    </a:lnB>
                    <a:noFill/>
                  </a:tcPr>
                </a:tc>
                <a:extLst>
                  <a:ext uri="{0D108BD9-81ED-4DB2-BD59-A6C34878D82A}">
                    <a16:rowId xmlns:a16="http://schemas.microsoft.com/office/drawing/2014/main" val="1742576418"/>
                  </a:ext>
                </a:extLst>
              </a:tr>
              <a:tr h="435189">
                <a:tc>
                  <a:txBody>
                    <a:bodyPr/>
                    <a:lstStyle/>
                    <a:p>
                      <a:pPr>
                        <a:buNone/>
                      </a:pPr>
                      <a:r>
                        <a:rPr lang="en-IN" sz="1800">
                          <a:latin typeface="Aptos Narrow" panose="020B0004020202020204" pitchFamily="34" charset="0"/>
                        </a:rPr>
                        <a:t>🥉 3</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Hybrid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dirty="0">
                          <a:latin typeface="Aptos Narrow" panose="020B0004020202020204" pitchFamily="34" charset="0"/>
                        </a:rPr>
                        <a:t>Structured + Unstructured</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Enterprise AI Copilots</a:t>
                      </a:r>
                    </a:p>
                  </a:txBody>
                  <a:tcPr marL="43519" marR="43519" marT="21759" marB="21759" anchor="ctr">
                    <a:lnL>
                      <a:noFill/>
                    </a:lnL>
                    <a:lnR>
                      <a:noFill/>
                    </a:lnR>
                    <a:lnT>
                      <a:noFill/>
                    </a:lnT>
                    <a:lnB>
                      <a:noFill/>
                    </a:lnB>
                    <a:noFill/>
                  </a:tcPr>
                </a:tc>
                <a:tc>
                  <a:txBody>
                    <a:bodyPr/>
                    <a:lstStyle/>
                    <a:p>
                      <a:pPr>
                        <a:buNone/>
                      </a:pPr>
                      <a:r>
                        <a:rPr lang="en-IN" sz="1800" dirty="0">
                          <a:latin typeface="Aptos Narrow" panose="020B0004020202020204" pitchFamily="34" charset="0"/>
                        </a:rPr>
                        <a:t>⭐⭐⭐⭐⭐ Future Standard</a:t>
                      </a:r>
                    </a:p>
                  </a:txBody>
                  <a:tcPr marL="43519" marR="43519" marT="21759" marB="21759" anchor="ctr">
                    <a:lnL>
                      <a:noFill/>
                    </a:lnL>
                    <a:lnR>
                      <a:noFill/>
                    </a:lnR>
                    <a:lnT>
                      <a:noFill/>
                    </a:lnT>
                    <a:lnB>
                      <a:noFill/>
                    </a:lnB>
                    <a:noFill/>
                  </a:tcPr>
                </a:tc>
                <a:extLst>
                  <a:ext uri="{0D108BD9-81ED-4DB2-BD59-A6C34878D82A}">
                    <a16:rowId xmlns:a16="http://schemas.microsoft.com/office/drawing/2014/main" val="2754443165"/>
                  </a:ext>
                </a:extLst>
              </a:tr>
              <a:tr h="304632">
                <a:tc>
                  <a:txBody>
                    <a:bodyPr/>
                    <a:lstStyle/>
                    <a:p>
                      <a:pPr>
                        <a:buNone/>
                      </a:pPr>
                      <a:r>
                        <a:rPr lang="en-IN" sz="1800">
                          <a:latin typeface="Aptos Narrow" panose="020B0004020202020204" pitchFamily="34" charset="0"/>
                        </a:rPr>
                        <a:t>4</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Code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fr-FR" sz="1800">
                          <a:latin typeface="Aptos Narrow" panose="020B0004020202020204" pitchFamily="34" charset="0"/>
                        </a:rPr>
                        <a:t>Source Code, APIs, Git Repos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AI Coding Assistants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a:t>
                      </a:r>
                    </a:p>
                  </a:txBody>
                  <a:tcPr marL="43519" marR="43519" marT="21759" marB="21759" anchor="ctr">
                    <a:lnL>
                      <a:noFill/>
                    </a:lnL>
                    <a:lnR>
                      <a:noFill/>
                    </a:lnR>
                    <a:lnT>
                      <a:noFill/>
                    </a:lnT>
                    <a:lnB>
                      <a:noFill/>
                    </a:lnB>
                    <a:noFill/>
                  </a:tcPr>
                </a:tc>
                <a:extLst>
                  <a:ext uri="{0D108BD9-81ED-4DB2-BD59-A6C34878D82A}">
                    <a16:rowId xmlns:a16="http://schemas.microsoft.com/office/drawing/2014/main" val="3365409524"/>
                  </a:ext>
                </a:extLst>
              </a:tr>
              <a:tr h="435189">
                <a:tc>
                  <a:txBody>
                    <a:bodyPr/>
                    <a:lstStyle/>
                    <a:p>
                      <a:pPr>
                        <a:buNone/>
                      </a:pPr>
                      <a:r>
                        <a:rPr lang="en-IN" sz="1800">
                          <a:latin typeface="Aptos Narrow" panose="020B0004020202020204" pitchFamily="34" charset="0"/>
                        </a:rPr>
                        <a:t>5</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Graph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dirty="0">
                          <a:latin typeface="Aptos Narrow" panose="020B0004020202020204" pitchFamily="34" charset="0"/>
                        </a:rPr>
                        <a:t>Knowledge Graphs, Relationships</a:t>
                      </a:r>
                    </a:p>
                  </a:txBody>
                  <a:tcPr marL="43519" marR="43519" marT="21759" marB="21759" anchor="ctr">
                    <a:lnL>
                      <a:noFill/>
                    </a:lnL>
                    <a:lnR>
                      <a:noFill/>
                    </a:lnR>
                    <a:lnT>
                      <a:noFill/>
                    </a:lnT>
                    <a:lnB>
                      <a:noFill/>
                    </a:lnB>
                    <a:noFill/>
                  </a:tcPr>
                </a:tc>
                <a:tc>
                  <a:txBody>
                    <a:bodyPr/>
                    <a:lstStyle/>
                    <a:p>
                      <a:pPr>
                        <a:buNone/>
                      </a:pPr>
                      <a:r>
                        <a:rPr lang="en-IN" sz="1800" dirty="0">
                          <a:latin typeface="Aptos Narrow" panose="020B0004020202020204" pitchFamily="34" charset="0"/>
                        </a:rPr>
                        <a:t>Fraud, Recommendations, Lineage Medica AI</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Advanced</a:t>
                      </a:r>
                    </a:p>
                  </a:txBody>
                  <a:tcPr marL="43519" marR="43519" marT="21759" marB="21759" anchor="ctr">
                    <a:lnL>
                      <a:noFill/>
                    </a:lnL>
                    <a:lnR>
                      <a:noFill/>
                    </a:lnR>
                    <a:lnT>
                      <a:noFill/>
                    </a:lnT>
                    <a:lnB>
                      <a:noFill/>
                    </a:lnB>
                    <a:noFill/>
                  </a:tcPr>
                </a:tc>
                <a:extLst>
                  <a:ext uri="{0D108BD9-81ED-4DB2-BD59-A6C34878D82A}">
                    <a16:rowId xmlns:a16="http://schemas.microsoft.com/office/drawing/2014/main" val="1209518416"/>
                  </a:ext>
                </a:extLst>
              </a:tr>
              <a:tr h="435189">
                <a:tc>
                  <a:txBody>
                    <a:bodyPr/>
                    <a:lstStyle/>
                    <a:p>
                      <a:pPr>
                        <a:buNone/>
                      </a:pPr>
                      <a:r>
                        <a:rPr lang="en-IN" sz="1800">
                          <a:latin typeface="Aptos Narrow" panose="020B0004020202020204" pitchFamily="34" charset="0"/>
                        </a:rPr>
                        <a:t>6</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Multimodal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Images + Text + Audio + Video</a:t>
                      </a:r>
                    </a:p>
                  </a:txBody>
                  <a:tcPr marL="43519" marR="43519" marT="21759" marB="21759" anchor="ctr">
                    <a:lnL>
                      <a:noFill/>
                    </a:lnL>
                    <a:lnR>
                      <a:noFill/>
                    </a:lnR>
                    <a:lnT>
                      <a:noFill/>
                    </a:lnT>
                    <a:lnB>
                      <a:noFill/>
                    </a:lnB>
                    <a:noFill/>
                  </a:tcPr>
                </a:tc>
                <a:tc>
                  <a:txBody>
                    <a:bodyPr/>
                    <a:lstStyle/>
                    <a:p>
                      <a:pPr>
                        <a:buNone/>
                      </a:pPr>
                      <a:r>
                        <a:rPr lang="it-IT" sz="1800" dirty="0">
                          <a:latin typeface="Aptos Narrow" panose="020B0004020202020204" pitchFamily="34" charset="0"/>
                        </a:rPr>
                        <a:t>Surveillance, Media Search</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Emerging</a:t>
                      </a:r>
                    </a:p>
                  </a:txBody>
                  <a:tcPr marL="43519" marR="43519" marT="21759" marB="21759" anchor="ctr">
                    <a:lnL>
                      <a:noFill/>
                    </a:lnL>
                    <a:lnR>
                      <a:noFill/>
                    </a:lnR>
                    <a:lnT>
                      <a:noFill/>
                    </a:lnT>
                    <a:lnB>
                      <a:noFill/>
                    </a:lnB>
                    <a:noFill/>
                  </a:tcPr>
                </a:tc>
                <a:extLst>
                  <a:ext uri="{0D108BD9-81ED-4DB2-BD59-A6C34878D82A}">
                    <a16:rowId xmlns:a16="http://schemas.microsoft.com/office/drawing/2014/main" val="2379838019"/>
                  </a:ext>
                </a:extLst>
              </a:tr>
              <a:tr h="304632">
                <a:tc>
                  <a:txBody>
                    <a:bodyPr/>
                    <a:lstStyle/>
                    <a:p>
                      <a:pPr>
                        <a:buNone/>
                      </a:pPr>
                      <a:r>
                        <a:rPr lang="en-IN" sz="1800">
                          <a:latin typeface="Aptos Narrow" panose="020B0004020202020204" pitchFamily="34" charset="0"/>
                        </a:rPr>
                        <a:t>7</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Log/Observability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System Logs, Metrics, Alerts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AIOps, Root Cause Analysis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a:t>
                      </a:r>
                    </a:p>
                  </a:txBody>
                  <a:tcPr marL="43519" marR="43519" marT="21759" marB="21759" anchor="ctr">
                    <a:lnL>
                      <a:noFill/>
                    </a:lnL>
                    <a:lnR>
                      <a:noFill/>
                    </a:lnR>
                    <a:lnT>
                      <a:noFill/>
                    </a:lnT>
                    <a:lnB>
                      <a:noFill/>
                    </a:lnB>
                    <a:noFill/>
                  </a:tcPr>
                </a:tc>
                <a:extLst>
                  <a:ext uri="{0D108BD9-81ED-4DB2-BD59-A6C34878D82A}">
                    <a16:rowId xmlns:a16="http://schemas.microsoft.com/office/drawing/2014/main" val="1856008967"/>
                  </a:ext>
                </a:extLst>
              </a:tr>
              <a:tr h="565745">
                <a:tc>
                  <a:txBody>
                    <a:bodyPr/>
                    <a:lstStyle/>
                    <a:p>
                      <a:pPr>
                        <a:buNone/>
                      </a:pPr>
                      <a:r>
                        <a:rPr lang="en-IN" sz="1800">
                          <a:latin typeface="Aptos Narrow" panose="020B0004020202020204" pitchFamily="34" charset="0"/>
                        </a:rPr>
                        <a:t>8</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SQL + Agentic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Databases + Tools + APIs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Autonomous Data Analysts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Future Enterprise Trend</a:t>
                      </a:r>
                    </a:p>
                  </a:txBody>
                  <a:tcPr marL="43519" marR="43519" marT="21759" marB="21759" anchor="ctr">
                    <a:lnL>
                      <a:noFill/>
                    </a:lnL>
                    <a:lnR>
                      <a:noFill/>
                    </a:lnR>
                    <a:lnT>
                      <a:noFill/>
                    </a:lnT>
                    <a:lnB>
                      <a:noFill/>
                    </a:lnB>
                    <a:noFill/>
                  </a:tcPr>
                </a:tc>
                <a:extLst>
                  <a:ext uri="{0D108BD9-81ED-4DB2-BD59-A6C34878D82A}">
                    <a16:rowId xmlns:a16="http://schemas.microsoft.com/office/drawing/2014/main" val="3738666029"/>
                  </a:ext>
                </a:extLst>
              </a:tr>
              <a:tr h="304632">
                <a:tc>
                  <a:txBody>
                    <a:bodyPr/>
                    <a:lstStyle/>
                    <a:p>
                      <a:pPr>
                        <a:buNone/>
                      </a:pPr>
                      <a:r>
                        <a:rPr lang="en-IN" sz="1800">
                          <a:latin typeface="Aptos Narrow" panose="020B0004020202020204" pitchFamily="34" charset="0"/>
                        </a:rPr>
                        <a:t>9</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Real-Time Streaming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Kafka, IoT, Event Streams</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Real-time AI Monitoring</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 Emerging</a:t>
                      </a:r>
                    </a:p>
                  </a:txBody>
                  <a:tcPr marL="43519" marR="43519" marT="21759" marB="21759" anchor="ctr">
                    <a:lnL>
                      <a:noFill/>
                    </a:lnL>
                    <a:lnR>
                      <a:noFill/>
                    </a:lnR>
                    <a:lnT>
                      <a:noFill/>
                    </a:lnT>
                    <a:lnB>
                      <a:noFill/>
                    </a:lnB>
                    <a:noFill/>
                  </a:tcPr>
                </a:tc>
                <a:extLst>
                  <a:ext uri="{0D108BD9-81ED-4DB2-BD59-A6C34878D82A}">
                    <a16:rowId xmlns:a16="http://schemas.microsoft.com/office/drawing/2014/main" val="3770150683"/>
                  </a:ext>
                </a:extLst>
              </a:tr>
              <a:tr h="435189">
                <a:tc>
                  <a:txBody>
                    <a:bodyPr/>
                    <a:lstStyle/>
                    <a:p>
                      <a:pPr>
                        <a:buNone/>
                      </a:pPr>
                      <a:r>
                        <a:rPr lang="en-IN" sz="1800">
                          <a:latin typeface="Aptos Narrow" panose="020B0004020202020204" pitchFamily="34" charset="0"/>
                        </a:rPr>
                        <a:t>10</a:t>
                      </a:r>
                    </a:p>
                  </a:txBody>
                  <a:tcPr marL="43519" marR="43519" marT="21759" marB="21759" anchor="ctr">
                    <a:lnL>
                      <a:noFill/>
                    </a:lnL>
                    <a:lnR>
                      <a:noFill/>
                    </a:lnR>
                    <a:lnT>
                      <a:noFill/>
                    </a:lnT>
                    <a:lnB>
                      <a:noFill/>
                    </a:lnB>
                    <a:noFill/>
                  </a:tcPr>
                </a:tc>
                <a:tc>
                  <a:txBody>
                    <a:bodyPr/>
                    <a:lstStyle/>
                    <a:p>
                      <a:pPr>
                        <a:buNone/>
                      </a:pPr>
                      <a:r>
                        <a:rPr lang="en-IN" sz="1800" b="1">
                          <a:latin typeface="Aptos Narrow" panose="020B0004020202020204" pitchFamily="34" charset="0"/>
                        </a:rPr>
                        <a:t>Memory RAG</a:t>
                      </a:r>
                      <a:endParaRPr lang="en-IN" sz="1800">
                        <a:latin typeface="Aptos Narrow" panose="020B0004020202020204" pitchFamily="34" charset="0"/>
                      </a:endParaRP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Conversation History, User Context</a:t>
                      </a:r>
                    </a:p>
                  </a:txBody>
                  <a:tcPr marL="43519" marR="43519" marT="21759" marB="21759" anchor="ctr">
                    <a:lnL>
                      <a:noFill/>
                    </a:lnL>
                    <a:lnR>
                      <a:noFill/>
                    </a:lnR>
                    <a:lnT>
                      <a:noFill/>
                    </a:lnT>
                    <a:lnB>
                      <a:noFill/>
                    </a:lnB>
                    <a:noFill/>
                  </a:tcPr>
                </a:tc>
                <a:tc>
                  <a:txBody>
                    <a:bodyPr/>
                    <a:lstStyle/>
                    <a:p>
                      <a:pPr>
                        <a:buNone/>
                      </a:pPr>
                      <a:r>
                        <a:rPr lang="en-IN" sz="1800">
                          <a:latin typeface="Aptos Narrow" panose="020B0004020202020204" pitchFamily="34" charset="0"/>
                        </a:rPr>
                        <a:t>Personalized AI Agents</a:t>
                      </a:r>
                    </a:p>
                  </a:txBody>
                  <a:tcPr marL="43519" marR="43519" marT="21759" marB="21759" anchor="ctr">
                    <a:lnL>
                      <a:noFill/>
                    </a:lnL>
                    <a:lnR>
                      <a:noFill/>
                    </a:lnR>
                    <a:lnT>
                      <a:noFill/>
                    </a:lnT>
                    <a:lnB>
                      <a:noFill/>
                    </a:lnB>
                    <a:noFill/>
                  </a:tcPr>
                </a:tc>
                <a:tc>
                  <a:txBody>
                    <a:bodyPr/>
                    <a:lstStyle/>
                    <a:p>
                      <a:pPr>
                        <a:buNone/>
                      </a:pPr>
                      <a:r>
                        <a:rPr lang="en-IN" sz="1800" dirty="0">
                          <a:latin typeface="Aptos Narrow" panose="020B0004020202020204" pitchFamily="34" charset="0"/>
                        </a:rPr>
                        <a:t>⭐⭐⭐</a:t>
                      </a:r>
                    </a:p>
                  </a:txBody>
                  <a:tcPr marL="43519" marR="43519" marT="21759" marB="21759" anchor="ctr">
                    <a:lnL>
                      <a:noFill/>
                    </a:lnL>
                    <a:lnR>
                      <a:noFill/>
                    </a:lnR>
                    <a:lnT>
                      <a:noFill/>
                    </a:lnT>
                    <a:lnB>
                      <a:noFill/>
                    </a:lnB>
                    <a:noFill/>
                  </a:tcPr>
                </a:tc>
                <a:extLst>
                  <a:ext uri="{0D108BD9-81ED-4DB2-BD59-A6C34878D82A}">
                    <a16:rowId xmlns:a16="http://schemas.microsoft.com/office/drawing/2014/main" val="3201218856"/>
                  </a:ext>
                </a:extLst>
              </a:tr>
            </a:tbl>
          </a:graphicData>
        </a:graphic>
      </p:graphicFrame>
    </p:spTree>
    <p:extLst>
      <p:ext uri="{BB962C8B-B14F-4D97-AF65-F5344CB8AC3E}">
        <p14:creationId xmlns:p14="http://schemas.microsoft.com/office/powerpoint/2010/main" val="52071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AB50-E735-568A-D2A4-FB68D006C0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52BD4F-CDEF-3793-C736-445027EC676E}"/>
              </a:ext>
            </a:extLst>
          </p:cNvPr>
          <p:cNvSpPr txBox="1"/>
          <p:nvPr/>
        </p:nvSpPr>
        <p:spPr>
          <a:xfrm>
            <a:off x="457200" y="243840"/>
            <a:ext cx="7962900" cy="553998"/>
          </a:xfrm>
          <a:prstGeom prst="rect">
            <a:avLst/>
          </a:prstGeom>
          <a:noFill/>
        </p:spPr>
        <p:txBody>
          <a:bodyPr wrap="square">
            <a:spAutoFit/>
          </a:bodyPr>
          <a:lstStyle/>
          <a:p>
            <a:pPr algn="l">
              <a:spcBef>
                <a:spcPts val="0"/>
              </a:spcBef>
            </a:pPr>
            <a:r>
              <a:rPr lang="en-US" sz="3000" b="1" dirty="0">
                <a:solidFill>
                  <a:srgbClr val="1C395E"/>
                </a:solidFill>
                <a:latin typeface="Aptos Narrow"/>
              </a:rPr>
              <a:t>Categories and Tools</a:t>
            </a:r>
          </a:p>
        </p:txBody>
      </p:sp>
      <p:sp>
        <p:nvSpPr>
          <p:cNvPr id="3" name="Rectangle 2">
            <a:extLst>
              <a:ext uri="{FF2B5EF4-FFF2-40B4-BE49-F238E27FC236}">
                <a16:creationId xmlns:a16="http://schemas.microsoft.com/office/drawing/2014/main" id="{0B671D3A-937D-D370-DB45-0DCFE9244126}"/>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95EB55C6-B538-634C-BBA3-DC973DF13DF8}"/>
              </a:ext>
            </a:extLst>
          </p:cNvPr>
          <p:cNvGraphicFramePr>
            <a:graphicFrameLocks noGrp="1"/>
          </p:cNvGraphicFramePr>
          <p:nvPr>
            <p:extLst>
              <p:ext uri="{D42A27DB-BD31-4B8C-83A1-F6EECF244321}">
                <p14:modId xmlns:p14="http://schemas.microsoft.com/office/powerpoint/2010/main" val="3762305078"/>
              </p:ext>
            </p:extLst>
          </p:nvPr>
        </p:nvGraphicFramePr>
        <p:xfrm>
          <a:off x="609600" y="1371600"/>
          <a:ext cx="8229600" cy="4114800"/>
        </p:xfrm>
        <a:graphic>
          <a:graphicData uri="http://schemas.openxmlformats.org/drawingml/2006/table">
            <a:tbl>
              <a:tblPr>
                <a:tableStyleId>{616DA210-FB5B-4158-B5E0-FEB733F419BA}</a:tableStyleId>
              </a:tblPr>
              <a:tblGrid>
                <a:gridCol w="4114800">
                  <a:extLst>
                    <a:ext uri="{9D8B030D-6E8A-4147-A177-3AD203B41FA5}">
                      <a16:colId xmlns:a16="http://schemas.microsoft.com/office/drawing/2014/main" val="1126960849"/>
                    </a:ext>
                  </a:extLst>
                </a:gridCol>
                <a:gridCol w="4114800">
                  <a:extLst>
                    <a:ext uri="{9D8B030D-6E8A-4147-A177-3AD203B41FA5}">
                      <a16:colId xmlns:a16="http://schemas.microsoft.com/office/drawing/2014/main" val="871065989"/>
                    </a:ext>
                  </a:extLst>
                </a:gridCol>
              </a:tblGrid>
              <a:tr h="0">
                <a:tc>
                  <a:txBody>
                    <a:bodyPr/>
                    <a:lstStyle/>
                    <a:p>
                      <a:pPr>
                        <a:buNone/>
                      </a:pPr>
                      <a:r>
                        <a:rPr lang="en-IN" sz="2400" b="1"/>
                        <a:t>Category</a:t>
                      </a:r>
                      <a:endParaRPr lang="en-IN" sz="2400" b="1">
                        <a:latin typeface="Aptos Narrow" panose="020B0004020202020204" pitchFamily="34" charset="0"/>
                      </a:endParaRPr>
                    </a:p>
                  </a:txBody>
                  <a:tcPr anchor="ctr"/>
                </a:tc>
                <a:tc>
                  <a:txBody>
                    <a:bodyPr/>
                    <a:lstStyle/>
                    <a:p>
                      <a:pPr>
                        <a:buNone/>
                      </a:pPr>
                      <a:r>
                        <a:rPr lang="en-IN" sz="2400" b="1" dirty="0"/>
                        <a:t>Current Leaders</a:t>
                      </a:r>
                      <a:endParaRPr lang="en-IN" sz="2400" b="1" dirty="0">
                        <a:latin typeface="Aptos Narrow" panose="020B0004020202020204" pitchFamily="34" charset="0"/>
                      </a:endParaRPr>
                    </a:p>
                  </a:txBody>
                  <a:tcPr anchor="ctr"/>
                </a:tc>
                <a:extLst>
                  <a:ext uri="{0D108BD9-81ED-4DB2-BD59-A6C34878D82A}">
                    <a16:rowId xmlns:a16="http://schemas.microsoft.com/office/drawing/2014/main" val="106368707"/>
                  </a:ext>
                </a:extLst>
              </a:tr>
              <a:tr h="0">
                <a:tc>
                  <a:txBody>
                    <a:bodyPr/>
                    <a:lstStyle/>
                    <a:p>
                      <a:pPr>
                        <a:buNone/>
                      </a:pPr>
                      <a:r>
                        <a:rPr lang="en-IN" sz="2400"/>
                        <a:t>PDF / Document RAG</a:t>
                      </a:r>
                      <a:endParaRPr lang="en-IN" sz="2400">
                        <a:latin typeface="Aptos Narrow" panose="020B0004020202020204" pitchFamily="34" charset="0"/>
                      </a:endParaRPr>
                    </a:p>
                  </a:txBody>
                  <a:tcPr anchor="ctr"/>
                </a:tc>
                <a:tc>
                  <a:txBody>
                    <a:bodyPr/>
                    <a:lstStyle/>
                    <a:p>
                      <a:pPr>
                        <a:buNone/>
                      </a:pPr>
                      <a:r>
                        <a:rPr lang="en-IN" sz="2400" dirty="0" err="1"/>
                        <a:t>LangChain</a:t>
                      </a:r>
                      <a:r>
                        <a:rPr lang="en-IN" sz="2400" dirty="0"/>
                        <a:t>, </a:t>
                      </a:r>
                      <a:r>
                        <a:rPr lang="en-IN" sz="2400" dirty="0" err="1"/>
                        <a:t>LlamaIndex</a:t>
                      </a:r>
                      <a:endParaRPr lang="en-IN" sz="2400" dirty="0">
                        <a:latin typeface="Aptos Narrow" panose="020B0004020202020204" pitchFamily="34" charset="0"/>
                      </a:endParaRPr>
                    </a:p>
                  </a:txBody>
                  <a:tcPr anchor="ctr"/>
                </a:tc>
                <a:extLst>
                  <a:ext uri="{0D108BD9-81ED-4DB2-BD59-A6C34878D82A}">
                    <a16:rowId xmlns:a16="http://schemas.microsoft.com/office/drawing/2014/main" val="1874843288"/>
                  </a:ext>
                </a:extLst>
              </a:tr>
              <a:tr h="0">
                <a:tc>
                  <a:txBody>
                    <a:bodyPr/>
                    <a:lstStyle/>
                    <a:p>
                      <a:pPr>
                        <a:buNone/>
                      </a:pPr>
                      <a:r>
                        <a:rPr lang="en-IN" sz="2400" dirty="0"/>
                        <a:t>Table / SQL RAG</a:t>
                      </a:r>
                      <a:endParaRPr lang="en-IN" sz="2400" dirty="0">
                        <a:latin typeface="Aptos Narrow" panose="020B0004020202020204" pitchFamily="34" charset="0"/>
                      </a:endParaRPr>
                    </a:p>
                  </a:txBody>
                  <a:tcPr anchor="ctr"/>
                </a:tc>
                <a:tc>
                  <a:txBody>
                    <a:bodyPr/>
                    <a:lstStyle/>
                    <a:p>
                      <a:pPr>
                        <a:buNone/>
                      </a:pPr>
                      <a:r>
                        <a:rPr lang="en-IN" sz="2400"/>
                        <a:t>Vanna AI, DB-GPT</a:t>
                      </a:r>
                      <a:endParaRPr lang="en-IN" sz="2400">
                        <a:latin typeface="Aptos Narrow" panose="020B0004020202020204" pitchFamily="34" charset="0"/>
                      </a:endParaRPr>
                    </a:p>
                  </a:txBody>
                  <a:tcPr anchor="ctr"/>
                </a:tc>
                <a:extLst>
                  <a:ext uri="{0D108BD9-81ED-4DB2-BD59-A6C34878D82A}">
                    <a16:rowId xmlns:a16="http://schemas.microsoft.com/office/drawing/2014/main" val="3246391992"/>
                  </a:ext>
                </a:extLst>
              </a:tr>
              <a:tr h="0">
                <a:tc>
                  <a:txBody>
                    <a:bodyPr/>
                    <a:lstStyle/>
                    <a:p>
                      <a:pPr>
                        <a:buNone/>
                      </a:pPr>
                      <a:r>
                        <a:rPr lang="en-IN" sz="2400"/>
                        <a:t>Vector DB</a:t>
                      </a:r>
                      <a:endParaRPr lang="en-IN" sz="2400">
                        <a:latin typeface="Aptos Narrow" panose="020B0004020202020204" pitchFamily="34" charset="0"/>
                      </a:endParaRPr>
                    </a:p>
                  </a:txBody>
                  <a:tcPr anchor="ctr"/>
                </a:tc>
                <a:tc>
                  <a:txBody>
                    <a:bodyPr/>
                    <a:lstStyle/>
                    <a:p>
                      <a:pPr>
                        <a:buNone/>
                      </a:pPr>
                      <a:r>
                        <a:rPr lang="en-IN" sz="2400"/>
                        <a:t>Pinecone, Weaviate, ChromaDB</a:t>
                      </a:r>
                      <a:endParaRPr lang="en-IN" sz="2400">
                        <a:latin typeface="Aptos Narrow" panose="020B0004020202020204" pitchFamily="34" charset="0"/>
                      </a:endParaRPr>
                    </a:p>
                  </a:txBody>
                  <a:tcPr anchor="ctr"/>
                </a:tc>
                <a:extLst>
                  <a:ext uri="{0D108BD9-81ED-4DB2-BD59-A6C34878D82A}">
                    <a16:rowId xmlns:a16="http://schemas.microsoft.com/office/drawing/2014/main" val="3018243710"/>
                  </a:ext>
                </a:extLst>
              </a:tr>
              <a:tr h="0">
                <a:tc>
                  <a:txBody>
                    <a:bodyPr/>
                    <a:lstStyle/>
                    <a:p>
                      <a:pPr>
                        <a:buNone/>
                      </a:pPr>
                      <a:r>
                        <a:rPr lang="en-IN" sz="2400"/>
                        <a:t>Enterprise Search</a:t>
                      </a:r>
                      <a:endParaRPr lang="en-IN" sz="2400">
                        <a:latin typeface="Aptos Narrow" panose="020B0004020202020204" pitchFamily="34" charset="0"/>
                      </a:endParaRPr>
                    </a:p>
                  </a:txBody>
                  <a:tcPr anchor="ctr"/>
                </a:tc>
                <a:tc>
                  <a:txBody>
                    <a:bodyPr/>
                    <a:lstStyle/>
                    <a:p>
                      <a:pPr>
                        <a:buNone/>
                      </a:pPr>
                      <a:r>
                        <a:rPr lang="en-IN" sz="2400"/>
                        <a:t>Glean, Elastic</a:t>
                      </a:r>
                      <a:endParaRPr lang="en-IN" sz="2400">
                        <a:latin typeface="Aptos Narrow" panose="020B0004020202020204" pitchFamily="34" charset="0"/>
                      </a:endParaRPr>
                    </a:p>
                  </a:txBody>
                  <a:tcPr anchor="ctr"/>
                </a:tc>
                <a:extLst>
                  <a:ext uri="{0D108BD9-81ED-4DB2-BD59-A6C34878D82A}">
                    <a16:rowId xmlns:a16="http://schemas.microsoft.com/office/drawing/2014/main" val="880063969"/>
                  </a:ext>
                </a:extLst>
              </a:tr>
              <a:tr h="0">
                <a:tc>
                  <a:txBody>
                    <a:bodyPr/>
                    <a:lstStyle/>
                    <a:p>
                      <a:pPr>
                        <a:buNone/>
                      </a:pPr>
                      <a:r>
                        <a:rPr lang="en-IN" sz="2400"/>
                        <a:t>Graph RAG</a:t>
                      </a:r>
                      <a:endParaRPr lang="en-IN" sz="2400">
                        <a:latin typeface="Aptos Narrow" panose="020B0004020202020204" pitchFamily="34" charset="0"/>
                      </a:endParaRPr>
                    </a:p>
                  </a:txBody>
                  <a:tcPr anchor="ctr"/>
                </a:tc>
                <a:tc>
                  <a:txBody>
                    <a:bodyPr/>
                    <a:lstStyle/>
                    <a:p>
                      <a:pPr>
                        <a:buNone/>
                      </a:pPr>
                      <a:r>
                        <a:rPr lang="en-IN" sz="2400"/>
                        <a:t>Neo4j</a:t>
                      </a:r>
                      <a:endParaRPr lang="en-IN" sz="2400">
                        <a:latin typeface="Aptos Narrow" panose="020B0004020202020204" pitchFamily="34" charset="0"/>
                      </a:endParaRPr>
                    </a:p>
                  </a:txBody>
                  <a:tcPr anchor="ctr"/>
                </a:tc>
                <a:extLst>
                  <a:ext uri="{0D108BD9-81ED-4DB2-BD59-A6C34878D82A}">
                    <a16:rowId xmlns:a16="http://schemas.microsoft.com/office/drawing/2014/main" val="1899084835"/>
                  </a:ext>
                </a:extLst>
              </a:tr>
              <a:tr h="0">
                <a:tc>
                  <a:txBody>
                    <a:bodyPr/>
                    <a:lstStyle/>
                    <a:p>
                      <a:pPr>
                        <a:buNone/>
                      </a:pPr>
                      <a:r>
                        <a:rPr lang="en-IN" sz="2400" dirty="0"/>
                        <a:t>Lakehouse RAG</a:t>
                      </a:r>
                      <a:endParaRPr lang="en-IN" sz="2400" dirty="0">
                        <a:latin typeface="Aptos Narrow" panose="020B0004020202020204" pitchFamily="34" charset="0"/>
                      </a:endParaRPr>
                    </a:p>
                  </a:txBody>
                  <a:tcPr anchor="ctr"/>
                </a:tc>
                <a:tc>
                  <a:txBody>
                    <a:bodyPr/>
                    <a:lstStyle/>
                    <a:p>
                      <a:pPr>
                        <a:buNone/>
                      </a:pPr>
                      <a:r>
                        <a:rPr lang="en-IN" sz="2400"/>
                        <a:t>Databricks, Snowflake Cortex</a:t>
                      </a:r>
                      <a:endParaRPr lang="en-IN" sz="2400">
                        <a:latin typeface="Aptos Narrow" panose="020B0004020202020204" pitchFamily="34" charset="0"/>
                      </a:endParaRPr>
                    </a:p>
                  </a:txBody>
                  <a:tcPr anchor="ctr"/>
                </a:tc>
                <a:extLst>
                  <a:ext uri="{0D108BD9-81ED-4DB2-BD59-A6C34878D82A}">
                    <a16:rowId xmlns:a16="http://schemas.microsoft.com/office/drawing/2014/main" val="2277323963"/>
                  </a:ext>
                </a:extLst>
              </a:tr>
              <a:tr h="0">
                <a:tc>
                  <a:txBody>
                    <a:bodyPr/>
                    <a:lstStyle/>
                    <a:p>
                      <a:pPr>
                        <a:buNone/>
                      </a:pPr>
                      <a:r>
                        <a:rPr lang="en-IN" sz="2400"/>
                        <a:t>Multimodal RAG</a:t>
                      </a:r>
                      <a:endParaRPr lang="en-IN" sz="2400">
                        <a:latin typeface="Aptos Narrow" panose="020B0004020202020204" pitchFamily="34" charset="0"/>
                      </a:endParaRPr>
                    </a:p>
                  </a:txBody>
                  <a:tcPr anchor="ctr"/>
                </a:tc>
                <a:tc>
                  <a:txBody>
                    <a:bodyPr/>
                    <a:lstStyle/>
                    <a:p>
                      <a:pPr>
                        <a:buNone/>
                      </a:pPr>
                      <a:r>
                        <a:rPr lang="en-IN" sz="2400"/>
                        <a:t>Gemini, GPT-5.x</a:t>
                      </a:r>
                      <a:endParaRPr lang="en-IN" sz="2400">
                        <a:latin typeface="Aptos Narrow" panose="020B0004020202020204" pitchFamily="34" charset="0"/>
                      </a:endParaRPr>
                    </a:p>
                  </a:txBody>
                  <a:tcPr anchor="ctr"/>
                </a:tc>
                <a:extLst>
                  <a:ext uri="{0D108BD9-81ED-4DB2-BD59-A6C34878D82A}">
                    <a16:rowId xmlns:a16="http://schemas.microsoft.com/office/drawing/2014/main" val="1715752914"/>
                  </a:ext>
                </a:extLst>
              </a:tr>
              <a:tr h="0">
                <a:tc>
                  <a:txBody>
                    <a:bodyPr/>
                    <a:lstStyle/>
                    <a:p>
                      <a:pPr>
                        <a:buNone/>
                      </a:pPr>
                      <a:r>
                        <a:rPr lang="en-IN" sz="2400"/>
                        <a:t>Agentic RAG</a:t>
                      </a:r>
                      <a:endParaRPr lang="en-IN" sz="2400">
                        <a:latin typeface="Aptos Narrow" panose="020B0004020202020204" pitchFamily="34" charset="0"/>
                      </a:endParaRPr>
                    </a:p>
                  </a:txBody>
                  <a:tcPr anchor="ctr"/>
                </a:tc>
                <a:tc>
                  <a:txBody>
                    <a:bodyPr/>
                    <a:lstStyle/>
                    <a:p>
                      <a:pPr>
                        <a:buNone/>
                      </a:pPr>
                      <a:r>
                        <a:rPr lang="en-IN" sz="2400" dirty="0" err="1"/>
                        <a:t>LangGraph</a:t>
                      </a:r>
                      <a:r>
                        <a:rPr lang="en-IN" sz="2400" dirty="0"/>
                        <a:t>, </a:t>
                      </a:r>
                      <a:r>
                        <a:rPr lang="en-IN" sz="2400" dirty="0" err="1"/>
                        <a:t>CrewAI</a:t>
                      </a:r>
                      <a:r>
                        <a:rPr lang="en-IN" sz="2400" dirty="0"/>
                        <a:t>, </a:t>
                      </a:r>
                      <a:r>
                        <a:rPr lang="en-IN" sz="2400" dirty="0" err="1"/>
                        <a:t>AutoGen</a:t>
                      </a:r>
                      <a:endParaRPr lang="en-IN" sz="2400" dirty="0">
                        <a:latin typeface="Aptos Narrow" panose="020B0004020202020204" pitchFamily="34" charset="0"/>
                      </a:endParaRPr>
                    </a:p>
                  </a:txBody>
                  <a:tcPr anchor="ctr"/>
                </a:tc>
                <a:extLst>
                  <a:ext uri="{0D108BD9-81ED-4DB2-BD59-A6C34878D82A}">
                    <a16:rowId xmlns:a16="http://schemas.microsoft.com/office/drawing/2014/main" val="1672366138"/>
                  </a:ext>
                </a:extLst>
              </a:tr>
            </a:tbl>
          </a:graphicData>
        </a:graphic>
      </p:graphicFrame>
    </p:spTree>
    <p:extLst>
      <p:ext uri="{BB962C8B-B14F-4D97-AF65-F5344CB8AC3E}">
        <p14:creationId xmlns:p14="http://schemas.microsoft.com/office/powerpoint/2010/main" val="522185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2345-F76A-102E-C345-3B06F8CAA1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78C865-1BB6-0005-B6E6-E56DF2EC03A1}"/>
              </a:ext>
            </a:extLst>
          </p:cNvPr>
          <p:cNvSpPr txBox="1"/>
          <p:nvPr/>
        </p:nvSpPr>
        <p:spPr>
          <a:xfrm>
            <a:off x="457200" y="243840"/>
            <a:ext cx="7962900" cy="553998"/>
          </a:xfrm>
          <a:prstGeom prst="rect">
            <a:avLst/>
          </a:prstGeom>
          <a:noFill/>
        </p:spPr>
        <p:txBody>
          <a:bodyPr wrap="square">
            <a:spAutoFit/>
          </a:bodyPr>
          <a:lstStyle/>
          <a:p>
            <a:pPr algn="l">
              <a:spcBef>
                <a:spcPts val="0"/>
              </a:spcBef>
            </a:pPr>
            <a:r>
              <a:rPr lang="en-US" sz="3000" b="1" dirty="0">
                <a:solidFill>
                  <a:srgbClr val="1C395E"/>
                </a:solidFill>
                <a:latin typeface="Aptos Narrow"/>
              </a:rPr>
              <a:t>Hybrid RAG</a:t>
            </a:r>
          </a:p>
        </p:txBody>
      </p:sp>
      <p:sp>
        <p:nvSpPr>
          <p:cNvPr id="3" name="Rectangle 2">
            <a:extLst>
              <a:ext uri="{FF2B5EF4-FFF2-40B4-BE49-F238E27FC236}">
                <a16:creationId xmlns:a16="http://schemas.microsoft.com/office/drawing/2014/main" id="{7F0595EF-79C3-CA75-C87A-E93402BEFF07}"/>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A8A98B5-31E4-E8AB-FFEE-4FAF989056CD}"/>
              </a:ext>
            </a:extLst>
          </p:cNvPr>
          <p:cNvSpPr txBox="1"/>
          <p:nvPr/>
        </p:nvSpPr>
        <p:spPr>
          <a:xfrm>
            <a:off x="3371849" y="1065116"/>
            <a:ext cx="6296025" cy="5324535"/>
          </a:xfrm>
          <a:prstGeom prst="rect">
            <a:avLst/>
          </a:prstGeom>
          <a:noFill/>
        </p:spPr>
        <p:txBody>
          <a:bodyPr wrap="square">
            <a:spAutoFit/>
          </a:bodyPr>
          <a:lstStyle/>
          <a:p>
            <a:r>
              <a:rPr lang="en-IN" sz="2000" dirty="0"/>
              <a:t>                          User Question</a:t>
            </a:r>
          </a:p>
          <a:p>
            <a:r>
              <a:rPr lang="en-IN" sz="2000" dirty="0"/>
              <a:t>                                    ↓</a:t>
            </a:r>
          </a:p>
          <a:p>
            <a:r>
              <a:rPr lang="en-IN" sz="2000" dirty="0"/>
              <a:t>                     Orchestrator / Agent</a:t>
            </a:r>
          </a:p>
          <a:p>
            <a:r>
              <a:rPr lang="en-IN" sz="2000" dirty="0"/>
              <a:t>                                     ↓</a:t>
            </a:r>
          </a:p>
          <a:p>
            <a:r>
              <a:rPr lang="en-IN" sz="2000" b="1" dirty="0"/>
              <a:t> ┌───────────────┬────────────────┐</a:t>
            </a:r>
          </a:p>
          <a:p>
            <a:r>
              <a:rPr lang="en-IN" sz="2000" dirty="0"/>
              <a:t> ↓                                                                      ↓</a:t>
            </a:r>
          </a:p>
          <a:p>
            <a:r>
              <a:rPr lang="en-IN" sz="2000" b="1" dirty="0"/>
              <a:t>SQL Retrieval                                Vector Retrieval</a:t>
            </a:r>
          </a:p>
          <a:p>
            <a:r>
              <a:rPr lang="en-IN" sz="2000" dirty="0"/>
              <a:t>(Structured)                                (Unstructured)</a:t>
            </a:r>
          </a:p>
          <a:p>
            <a:r>
              <a:rPr lang="en-IN" sz="2000" dirty="0"/>
              <a:t>     ↓                                                             ↓</a:t>
            </a:r>
          </a:p>
          <a:p>
            <a:r>
              <a:rPr lang="en-IN" sz="2000" dirty="0"/>
              <a:t>Warehouse                                         Vector DB</a:t>
            </a:r>
          </a:p>
          <a:p>
            <a:r>
              <a:rPr lang="en-IN" sz="2000" dirty="0"/>
              <a:t>     ↓                                                             ↓</a:t>
            </a:r>
          </a:p>
          <a:p>
            <a:r>
              <a:rPr lang="en-IN" sz="2000" dirty="0"/>
              <a:t>                                      ↓</a:t>
            </a:r>
          </a:p>
          <a:p>
            <a:r>
              <a:rPr lang="en-IN" sz="2000" dirty="0"/>
              <a:t>                      Combined Context</a:t>
            </a:r>
          </a:p>
          <a:p>
            <a:r>
              <a:rPr lang="en-IN" sz="2000" dirty="0"/>
              <a:t>                                     ↓</a:t>
            </a:r>
          </a:p>
          <a:p>
            <a:r>
              <a:rPr lang="en-IN" sz="2000" dirty="0"/>
              <a:t>                                   LLM</a:t>
            </a:r>
          </a:p>
          <a:p>
            <a:r>
              <a:rPr lang="en-IN" sz="2000" dirty="0"/>
              <a:t>                                    ↓</a:t>
            </a:r>
          </a:p>
          <a:p>
            <a:r>
              <a:rPr lang="en-IN" sz="2000" dirty="0"/>
              <a:t>                           Final Answer</a:t>
            </a:r>
          </a:p>
        </p:txBody>
      </p:sp>
      <p:cxnSp>
        <p:nvCxnSpPr>
          <p:cNvPr id="8" name="Straight Connector 7">
            <a:extLst>
              <a:ext uri="{FF2B5EF4-FFF2-40B4-BE49-F238E27FC236}">
                <a16:creationId xmlns:a16="http://schemas.microsoft.com/office/drawing/2014/main" id="{508FD3E5-858F-0AEA-14BD-14904ED05A4C}"/>
              </a:ext>
            </a:extLst>
          </p:cNvPr>
          <p:cNvCxnSpPr/>
          <p:nvPr/>
        </p:nvCxnSpPr>
        <p:spPr>
          <a:xfrm>
            <a:off x="3800475" y="4781550"/>
            <a:ext cx="3848100" cy="0"/>
          </a:xfrm>
          <a:prstGeom prst="line">
            <a:avLst/>
          </a:prstGeom>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791D366-D147-A5E0-5108-C4789AC9F196}"/>
              </a:ext>
            </a:extLst>
          </p:cNvPr>
          <p:cNvSpPr txBox="1"/>
          <p:nvPr/>
        </p:nvSpPr>
        <p:spPr>
          <a:xfrm>
            <a:off x="609600" y="6389651"/>
            <a:ext cx="11122152" cy="400110"/>
          </a:xfrm>
          <a:prstGeom prst="rect">
            <a:avLst/>
          </a:prstGeom>
          <a:noFill/>
        </p:spPr>
        <p:txBody>
          <a:bodyPr wrap="square" rtlCol="0">
            <a:spAutoFit/>
          </a:bodyPr>
          <a:lstStyle/>
          <a:p>
            <a:r>
              <a:rPr lang="en-IN" sz="2000" b="1" i="1" dirty="0">
                <a:solidFill>
                  <a:srgbClr val="7030A0"/>
                </a:solidFill>
              </a:rPr>
              <a:t>Example : UPI refunds are taking long time and lot of customer complaints and negative review on that</a:t>
            </a:r>
          </a:p>
        </p:txBody>
      </p:sp>
    </p:spTree>
    <p:extLst>
      <p:ext uri="{BB962C8B-B14F-4D97-AF65-F5344CB8AC3E}">
        <p14:creationId xmlns:p14="http://schemas.microsoft.com/office/powerpoint/2010/main" val="2442624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RAG Is Two Pipelines, Not One</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9549" y="1316355"/>
            <a:ext cx="11687175" cy="5021888"/>
          </a:xfrm>
          <a:prstGeom prst="rect">
            <a:avLst/>
          </a:prstGeom>
          <a:noFill/>
        </p:spPr>
        <p:txBody>
          <a:bodyPr wrap="square">
            <a:spAutoFit/>
          </a:bodyPr>
          <a:lstStyle/>
          <a:p>
            <a:pPr algn="l">
              <a:spcBef>
                <a:spcPts val="0"/>
              </a:spcBef>
            </a:pPr>
            <a:r>
              <a:rPr sz="2400" b="1" dirty="0">
                <a:solidFill>
                  <a:srgbClr val="1C395E"/>
                </a:solidFill>
                <a:latin typeface="Aptos Narrow"/>
              </a:rPr>
              <a:t>Most college projects run both in a loop and never notice.</a:t>
            </a:r>
          </a:p>
          <a:p>
            <a:pPr algn="l">
              <a:spcBef>
                <a:spcPts val="90"/>
              </a:spcBef>
            </a:pPr>
            <a:r>
              <a:rPr sz="2400" b="0" dirty="0">
                <a:solidFill>
                  <a:srgbClr val="1A1A1A"/>
                </a:solidFill>
                <a:latin typeface="Aptos Narrow"/>
              </a:rPr>
              <a:t>  •  Production separates them deliberately  —  different triggers, different SLAs.</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Pipeline 1 — INDEXING  (runs once, or when documents change)</a:t>
            </a:r>
          </a:p>
          <a:p>
            <a:pPr algn="l">
              <a:spcBef>
                <a:spcPts val="90"/>
              </a:spcBef>
            </a:pPr>
            <a:r>
              <a:rPr sz="2400" b="0" dirty="0">
                <a:solidFill>
                  <a:srgbClr val="1A1A1A"/>
                </a:solidFill>
                <a:latin typeface="Aptos Narrow"/>
              </a:rPr>
              <a:t>  •  Load → Split → Embed → Store</a:t>
            </a:r>
          </a:p>
          <a:p>
            <a:pPr algn="l">
              <a:spcBef>
                <a:spcPts val="90"/>
              </a:spcBef>
            </a:pPr>
            <a:r>
              <a:rPr sz="2000" b="0" dirty="0">
                <a:solidFill>
                  <a:srgbClr val="1A1A1A"/>
                </a:solidFill>
                <a:latin typeface="Aptos Narrow"/>
              </a:rPr>
              <a:t>        –  Trigger: document update event, nightly Airflow DAG, manual re-index</a:t>
            </a:r>
          </a:p>
          <a:p>
            <a:pPr algn="l">
              <a:spcBef>
                <a:spcPts val="90"/>
              </a:spcBef>
            </a:pPr>
            <a:r>
              <a:rPr sz="2000" b="0" dirty="0">
                <a:solidFill>
                  <a:srgbClr val="1A1A1A"/>
                </a:solidFill>
                <a:latin typeface="Aptos Narrow"/>
              </a:rPr>
              <a:t>        –  This is the offline prep work. Run it carefully. Tune it once. It pays off every query.</a:t>
            </a:r>
          </a:p>
          <a:p>
            <a:pPr algn="l">
              <a:spcBef>
                <a:spcPts val="40"/>
              </a:spcBef>
            </a:pPr>
            <a:endParaRPr sz="2000" b="0" dirty="0">
              <a:solidFill>
                <a:srgbClr val="1A1A1A"/>
              </a:solidFill>
              <a:latin typeface="Aptos Narrow"/>
            </a:endParaRPr>
          </a:p>
          <a:p>
            <a:pPr algn="l">
              <a:spcBef>
                <a:spcPts val="90"/>
              </a:spcBef>
            </a:pPr>
            <a:r>
              <a:rPr sz="2400" b="1" dirty="0">
                <a:solidFill>
                  <a:srgbClr val="1C395E"/>
                </a:solidFill>
                <a:latin typeface="Aptos Narrow"/>
              </a:rPr>
              <a:t>Pipeline 2 — QUERYING  (runs every time a user asks a question)</a:t>
            </a:r>
          </a:p>
          <a:p>
            <a:pPr algn="l">
              <a:spcBef>
                <a:spcPts val="90"/>
              </a:spcBef>
            </a:pPr>
            <a:r>
              <a:rPr sz="2400" b="0" dirty="0">
                <a:solidFill>
                  <a:srgbClr val="1A1A1A"/>
                </a:solidFill>
                <a:latin typeface="Aptos Narrow"/>
              </a:rPr>
              <a:t>  •  Embed question → Search → Retrieve → Augment prompt → Generate answer</a:t>
            </a:r>
          </a:p>
          <a:p>
            <a:pPr algn="l">
              <a:spcBef>
                <a:spcPts val="90"/>
              </a:spcBef>
            </a:pPr>
            <a:r>
              <a:rPr sz="2000" b="0" dirty="0">
                <a:solidFill>
                  <a:srgbClr val="1A1A1A"/>
                </a:solidFill>
                <a:latin typeface="Aptos Narrow"/>
              </a:rPr>
              <a:t>        –  Trigger: user question via API or UI</a:t>
            </a:r>
          </a:p>
          <a:p>
            <a:pPr algn="l">
              <a:spcBef>
                <a:spcPts val="90"/>
              </a:spcBef>
            </a:pPr>
            <a:r>
              <a:rPr sz="2000" b="0" dirty="0">
                <a:solidFill>
                  <a:srgbClr val="1A1A1A"/>
                </a:solidFill>
                <a:latin typeface="Aptos Narrow"/>
              </a:rPr>
              <a:t>        –  This is the online path. Speed matters. Every step must be fast.</a:t>
            </a:r>
          </a:p>
          <a:p>
            <a:pPr algn="l">
              <a:spcBef>
                <a:spcPts val="40"/>
              </a:spcBef>
            </a:pPr>
            <a:endParaRPr sz="2000" b="0" dirty="0">
              <a:solidFill>
                <a:srgbClr val="1A1A1A"/>
              </a:solidFill>
              <a:latin typeface="Aptos Narrow"/>
            </a:endParaRPr>
          </a:p>
          <a:p>
            <a:pPr algn="l">
              <a:spcBef>
                <a:spcPts val="90"/>
              </a:spcBef>
            </a:pPr>
            <a:r>
              <a:rPr sz="2400" b="0" dirty="0">
                <a:solidFill>
                  <a:srgbClr val="1A1A1A"/>
                </a:solidFill>
                <a:latin typeface="Aptos Narrow"/>
              </a:rPr>
              <a:t>  •  The architecture you build today is production-shaped — only components change at scale.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9F9D82B-F4E0-605A-5D40-FD1F574DE0DC}"/>
              </a:ext>
            </a:extLst>
          </p:cNvPr>
          <p:cNvSpPr/>
          <p:nvPr/>
        </p:nvSpPr>
        <p:spPr>
          <a:xfrm>
            <a:off x="1893887" y="3352800"/>
            <a:ext cx="8229600" cy="638747"/>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extBox 1"/>
          <p:cNvSpPr txBox="1"/>
          <p:nvPr/>
        </p:nvSpPr>
        <p:spPr>
          <a:xfrm>
            <a:off x="457200" y="262890"/>
            <a:ext cx="11274552" cy="868680"/>
          </a:xfrm>
          <a:prstGeom prst="rect">
            <a:avLst/>
          </a:prstGeom>
          <a:noFill/>
        </p:spPr>
        <p:txBody>
          <a:bodyPr wrap="none">
            <a:spAutoFit/>
          </a:bodyPr>
          <a:lstStyle/>
          <a:p>
            <a:pPr algn="l">
              <a:spcBef>
                <a:spcPts val="0"/>
              </a:spcBef>
            </a:pPr>
            <a:r>
              <a:rPr sz="3000" b="1" dirty="0">
                <a:solidFill>
                  <a:srgbClr val="1C395E"/>
                </a:solidFill>
                <a:latin typeface="Aptos Narrow"/>
              </a:rPr>
              <a:t>Indexing Pipeline — Run Once, Query Forever</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979676" y="1326641"/>
            <a:ext cx="8229600" cy="779681"/>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77148" y="1392746"/>
            <a:ext cx="7955280" cy="646331"/>
          </a:xfrm>
          <a:prstGeom prst="rect">
            <a:avLst/>
          </a:prstGeom>
          <a:noFill/>
        </p:spPr>
        <p:txBody>
          <a:bodyPr wrap="square">
            <a:spAutoFit/>
          </a:bodyPr>
          <a:lstStyle/>
          <a:p>
            <a:pPr algn="l">
              <a:spcBef>
                <a:spcPts val="0"/>
              </a:spcBef>
            </a:pPr>
            <a:r>
              <a:rPr sz="2000" b="1" dirty="0">
                <a:solidFill>
                  <a:srgbClr val="FFFFFF"/>
                </a:solidFill>
                <a:latin typeface="Aptos Narrow"/>
              </a:rPr>
              <a:t>PDF / Confluence / Markdown</a:t>
            </a:r>
          </a:p>
          <a:p>
            <a:pPr algn="l">
              <a:spcBef>
                <a:spcPts val="30"/>
              </a:spcBef>
            </a:pPr>
            <a:r>
              <a:rPr sz="1600" b="0" dirty="0">
                <a:solidFill>
                  <a:srgbClr val="FFFFFF"/>
                </a:solidFill>
                <a:latin typeface="Aptos Narrow"/>
              </a:rPr>
              <a:t>18,700 documents  —  any format, any size</a:t>
            </a:r>
          </a:p>
        </p:txBody>
      </p:sp>
      <p:sp>
        <p:nvSpPr>
          <p:cNvPr id="7" name="Rectangle 6"/>
          <p:cNvSpPr/>
          <p:nvPr/>
        </p:nvSpPr>
        <p:spPr>
          <a:xfrm>
            <a:off x="1979676" y="2305811"/>
            <a:ext cx="8229600" cy="787681"/>
          </a:xfrm>
          <a:prstGeom prst="rect">
            <a:avLst/>
          </a:prstGeom>
          <a:solidFill>
            <a:srgbClr val="E8EFFA"/>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16836" y="2360676"/>
            <a:ext cx="7955280" cy="646331"/>
          </a:xfrm>
          <a:prstGeom prst="rect">
            <a:avLst/>
          </a:prstGeom>
          <a:noFill/>
        </p:spPr>
        <p:txBody>
          <a:bodyPr wrap="square">
            <a:spAutoFit/>
          </a:bodyPr>
          <a:lstStyle/>
          <a:p>
            <a:pPr algn="l">
              <a:spcBef>
                <a:spcPts val="0"/>
              </a:spcBef>
            </a:pPr>
            <a:r>
              <a:rPr sz="2000" b="1" dirty="0">
                <a:solidFill>
                  <a:srgbClr val="1C395E"/>
                </a:solidFill>
                <a:latin typeface="Aptos Narrow"/>
              </a:rPr>
              <a:t>Loader  (</a:t>
            </a:r>
            <a:r>
              <a:rPr sz="2000" b="1" dirty="0" err="1">
                <a:solidFill>
                  <a:srgbClr val="1C395E"/>
                </a:solidFill>
                <a:latin typeface="Aptos Narrow"/>
              </a:rPr>
              <a:t>PyPDFLoader</a:t>
            </a:r>
            <a:r>
              <a:rPr sz="2000" b="1" dirty="0">
                <a:solidFill>
                  <a:srgbClr val="1C395E"/>
                </a:solidFill>
                <a:latin typeface="Aptos Narrow"/>
              </a:rPr>
              <a:t>)</a:t>
            </a:r>
          </a:p>
          <a:p>
            <a:pPr algn="l">
              <a:spcBef>
                <a:spcPts val="30"/>
              </a:spcBef>
            </a:pPr>
            <a:r>
              <a:rPr sz="1600" b="0" dirty="0">
                <a:solidFill>
                  <a:srgbClr val="454545"/>
                </a:solidFill>
                <a:latin typeface="Aptos Narrow"/>
              </a:rPr>
              <a:t>Extract raw text from each document</a:t>
            </a:r>
          </a:p>
        </p:txBody>
      </p:sp>
      <p:sp>
        <p:nvSpPr>
          <p:cNvPr id="11" name="TextBox 10"/>
          <p:cNvSpPr txBox="1"/>
          <p:nvPr/>
        </p:nvSpPr>
        <p:spPr>
          <a:xfrm>
            <a:off x="2059686" y="3396996"/>
            <a:ext cx="7955280" cy="646331"/>
          </a:xfrm>
          <a:prstGeom prst="rect">
            <a:avLst/>
          </a:prstGeom>
          <a:noFill/>
        </p:spPr>
        <p:txBody>
          <a:bodyPr wrap="square">
            <a:spAutoFit/>
          </a:bodyPr>
          <a:lstStyle/>
          <a:p>
            <a:pPr algn="l">
              <a:spcBef>
                <a:spcPts val="0"/>
              </a:spcBef>
            </a:pPr>
            <a:r>
              <a:rPr sz="2000" b="1" dirty="0">
                <a:solidFill>
                  <a:schemeClr val="bg1"/>
                </a:solidFill>
                <a:latin typeface="Aptos Narrow"/>
              </a:rPr>
              <a:t>Splitter  (</a:t>
            </a:r>
            <a:r>
              <a:rPr sz="2000" b="1" dirty="0" err="1">
                <a:solidFill>
                  <a:schemeClr val="bg1"/>
                </a:solidFill>
                <a:latin typeface="Aptos Narrow"/>
              </a:rPr>
              <a:t>RecursiveCharacterTextSplitter</a:t>
            </a:r>
            <a:r>
              <a:rPr sz="2000" b="1" dirty="0">
                <a:solidFill>
                  <a:schemeClr val="bg1"/>
                </a:solidFill>
                <a:latin typeface="Aptos Narrow"/>
              </a:rPr>
              <a:t>)</a:t>
            </a:r>
          </a:p>
          <a:p>
            <a:pPr algn="l">
              <a:spcBef>
                <a:spcPts val="30"/>
              </a:spcBef>
            </a:pPr>
            <a:r>
              <a:rPr sz="1600" b="0" dirty="0" err="1">
                <a:solidFill>
                  <a:schemeClr val="bg1"/>
                </a:solidFill>
                <a:latin typeface="Aptos Narrow"/>
              </a:rPr>
              <a:t>chunk_size</a:t>
            </a:r>
            <a:r>
              <a:rPr sz="1600" b="0" dirty="0">
                <a:solidFill>
                  <a:schemeClr val="bg1"/>
                </a:solidFill>
                <a:latin typeface="Aptos Narrow"/>
              </a:rPr>
              <a:t>=1000, overlap=200  —  tunable hyper-parameter</a:t>
            </a:r>
          </a:p>
        </p:txBody>
      </p:sp>
      <p:sp>
        <p:nvSpPr>
          <p:cNvPr id="13" name="Rectangle 12"/>
          <p:cNvSpPr/>
          <p:nvPr/>
        </p:nvSpPr>
        <p:spPr>
          <a:xfrm>
            <a:off x="1979676" y="4368927"/>
            <a:ext cx="8229600" cy="646330"/>
          </a:xfrm>
          <a:prstGeom prst="rect">
            <a:avLst/>
          </a:prstGeom>
          <a:solidFill>
            <a:srgbClr val="E8EFFA"/>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77148" y="4423791"/>
            <a:ext cx="7955280" cy="646331"/>
          </a:xfrm>
          <a:prstGeom prst="rect">
            <a:avLst/>
          </a:prstGeom>
          <a:noFill/>
        </p:spPr>
        <p:txBody>
          <a:bodyPr wrap="square">
            <a:spAutoFit/>
          </a:bodyPr>
          <a:lstStyle/>
          <a:p>
            <a:pPr algn="l">
              <a:spcBef>
                <a:spcPts val="0"/>
              </a:spcBef>
            </a:pPr>
            <a:r>
              <a:rPr sz="2000" b="1" dirty="0">
                <a:solidFill>
                  <a:srgbClr val="1C395E"/>
                </a:solidFill>
                <a:latin typeface="Aptos Narrow"/>
              </a:rPr>
              <a:t>Embeddings  (Bedrock — Titan Text v2)</a:t>
            </a:r>
          </a:p>
          <a:p>
            <a:pPr algn="l">
              <a:spcBef>
                <a:spcPts val="30"/>
              </a:spcBef>
            </a:pPr>
            <a:r>
              <a:rPr sz="1600" b="0" dirty="0">
                <a:solidFill>
                  <a:srgbClr val="454545"/>
                </a:solidFill>
                <a:latin typeface="Aptos Narrow"/>
              </a:rPr>
              <a:t>1,536 floats per chunk  —  28pt: meaning captured as geometry</a:t>
            </a:r>
          </a:p>
        </p:txBody>
      </p:sp>
      <p:sp>
        <p:nvSpPr>
          <p:cNvPr id="16" name="Rectangle 15"/>
          <p:cNvSpPr/>
          <p:nvPr/>
        </p:nvSpPr>
        <p:spPr>
          <a:xfrm>
            <a:off x="1979612" y="5324475"/>
            <a:ext cx="8229600" cy="638747"/>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2116772" y="5318760"/>
            <a:ext cx="7955280" cy="646331"/>
          </a:xfrm>
          <a:prstGeom prst="rect">
            <a:avLst/>
          </a:prstGeom>
          <a:noFill/>
        </p:spPr>
        <p:txBody>
          <a:bodyPr wrap="square">
            <a:spAutoFit/>
          </a:bodyPr>
          <a:lstStyle/>
          <a:p>
            <a:pPr algn="l">
              <a:spcBef>
                <a:spcPts val="0"/>
              </a:spcBef>
            </a:pPr>
            <a:r>
              <a:rPr sz="2000" b="1" dirty="0" err="1">
                <a:solidFill>
                  <a:srgbClr val="FFFFFF"/>
                </a:solidFill>
                <a:latin typeface="Aptos Narrow"/>
              </a:rPr>
              <a:t>ChromaDB</a:t>
            </a:r>
            <a:r>
              <a:rPr sz="2000" b="1" dirty="0">
                <a:solidFill>
                  <a:srgbClr val="FFFFFF"/>
                </a:solidFill>
                <a:latin typeface="Aptos Narrow"/>
              </a:rPr>
              <a:t>  (persisted to disk)</a:t>
            </a:r>
          </a:p>
          <a:p>
            <a:pPr algn="l">
              <a:spcBef>
                <a:spcPts val="30"/>
              </a:spcBef>
            </a:pPr>
            <a:r>
              <a:rPr sz="1600" b="0" dirty="0">
                <a:solidFill>
                  <a:srgbClr val="FFFFFF"/>
                </a:solidFill>
                <a:latin typeface="Aptos Narrow"/>
              </a:rPr>
              <a:t>Vectors stored in </a:t>
            </a:r>
            <a:r>
              <a:rPr sz="1600" b="0" dirty="0" err="1">
                <a:solidFill>
                  <a:srgbClr val="FFFFFF"/>
                </a:solidFill>
                <a:latin typeface="Aptos Narrow"/>
              </a:rPr>
              <a:t>chroma_db</a:t>
            </a:r>
            <a:r>
              <a:rPr sz="1600" b="0" dirty="0">
                <a:solidFill>
                  <a:srgbClr val="FFFFFF"/>
                </a:solidFill>
                <a:latin typeface="Aptos Narrow"/>
              </a:rPr>
              <a:t>/  —  survives restarts</a:t>
            </a:r>
          </a:p>
        </p:txBody>
      </p:sp>
      <p:sp>
        <p:nvSpPr>
          <p:cNvPr id="18" name="TextBox 17"/>
          <p:cNvSpPr txBox="1"/>
          <p:nvPr/>
        </p:nvSpPr>
        <p:spPr>
          <a:xfrm>
            <a:off x="457200" y="6473952"/>
            <a:ext cx="11274552" cy="347472"/>
          </a:xfrm>
          <a:prstGeom prst="rect">
            <a:avLst/>
          </a:prstGeom>
          <a:noFill/>
        </p:spPr>
        <p:txBody>
          <a:bodyPr wrap="square">
            <a:spAutoFit/>
          </a:bodyPr>
          <a:lstStyle/>
          <a:p>
            <a:pPr algn="l">
              <a:spcBef>
                <a:spcPts val="0"/>
              </a:spcBef>
            </a:pPr>
            <a:r>
              <a:rPr sz="1300" b="1">
                <a:solidFill>
                  <a:srgbClr val="454545"/>
                </a:solidFill>
                <a:latin typeface="Aptos Narrow"/>
              </a:rPr>
              <a:t>Code: rag/indexer.py → build_index()   |   Chunk size is the biggest tuning lever — no universal answer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58C6-6AD9-A2CC-9318-5B841CACDD4C}"/>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EA47699A-A6F0-9A72-3B2E-3FEF0EAB578F}"/>
              </a:ext>
            </a:extLst>
          </p:cNvPr>
          <p:cNvSpPr/>
          <p:nvPr/>
        </p:nvSpPr>
        <p:spPr>
          <a:xfrm>
            <a:off x="1893886" y="3352800"/>
            <a:ext cx="8315389" cy="646330"/>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bg1"/>
              </a:solidFill>
            </a:endParaRPr>
          </a:p>
        </p:txBody>
      </p:sp>
      <p:sp>
        <p:nvSpPr>
          <p:cNvPr id="2" name="TextBox 1">
            <a:extLst>
              <a:ext uri="{FF2B5EF4-FFF2-40B4-BE49-F238E27FC236}">
                <a16:creationId xmlns:a16="http://schemas.microsoft.com/office/drawing/2014/main" id="{64BAFA42-42B9-8EAE-CA7A-C29A8A0EBF13}"/>
              </a:ext>
            </a:extLst>
          </p:cNvPr>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Indexing Pipeline — Run Once, Query Forever</a:t>
            </a:r>
          </a:p>
        </p:txBody>
      </p:sp>
      <p:sp>
        <p:nvSpPr>
          <p:cNvPr id="3" name="Rectangle 2">
            <a:extLst>
              <a:ext uri="{FF2B5EF4-FFF2-40B4-BE49-F238E27FC236}">
                <a16:creationId xmlns:a16="http://schemas.microsoft.com/office/drawing/2014/main" id="{68E7B9C7-545C-DB19-F43D-1C126D5F12EB}"/>
              </a:ext>
            </a:extLst>
          </p:cNvPr>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9CA70DC0-D9A1-0451-B6BE-9A4D5672A6E5}"/>
              </a:ext>
            </a:extLst>
          </p:cNvPr>
          <p:cNvSpPr/>
          <p:nvPr/>
        </p:nvSpPr>
        <p:spPr>
          <a:xfrm>
            <a:off x="1979612" y="1234629"/>
            <a:ext cx="8229600" cy="779681"/>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83057766-D42C-D770-D705-2CE6ACDD76EC}"/>
              </a:ext>
            </a:extLst>
          </p:cNvPr>
          <p:cNvSpPr/>
          <p:nvPr/>
        </p:nvSpPr>
        <p:spPr>
          <a:xfrm>
            <a:off x="1979676" y="2305811"/>
            <a:ext cx="8229600" cy="787681"/>
          </a:xfrm>
          <a:prstGeom prst="rect">
            <a:avLst/>
          </a:prstGeom>
          <a:solidFill>
            <a:srgbClr val="E8EFFA"/>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DD1FBDF-1C7F-50E2-63BA-A3C10323D301}"/>
              </a:ext>
            </a:extLst>
          </p:cNvPr>
          <p:cNvSpPr/>
          <p:nvPr/>
        </p:nvSpPr>
        <p:spPr>
          <a:xfrm>
            <a:off x="1979676" y="4368927"/>
            <a:ext cx="8229600" cy="646330"/>
          </a:xfrm>
          <a:prstGeom prst="rect">
            <a:avLst/>
          </a:prstGeom>
          <a:solidFill>
            <a:srgbClr val="E8EFFA"/>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29BAF964-C3EC-7EDE-A6C6-6CBE4C7F69CB}"/>
              </a:ext>
            </a:extLst>
          </p:cNvPr>
          <p:cNvSpPr/>
          <p:nvPr/>
        </p:nvSpPr>
        <p:spPr>
          <a:xfrm>
            <a:off x="1979612" y="5324475"/>
            <a:ext cx="8229600" cy="742950"/>
          </a:xfrm>
          <a:prstGeom prst="rect">
            <a:avLst/>
          </a:prstGeom>
          <a:solidFill>
            <a:srgbClr val="1C395E"/>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a:extLst>
              <a:ext uri="{FF2B5EF4-FFF2-40B4-BE49-F238E27FC236}">
                <a16:creationId xmlns:a16="http://schemas.microsoft.com/office/drawing/2014/main" id="{B88717D9-D2C6-694E-EED6-241A3D1E8388}"/>
              </a:ext>
            </a:extLst>
          </p:cNvPr>
          <p:cNvSpPr txBox="1"/>
          <p:nvPr/>
        </p:nvSpPr>
        <p:spPr>
          <a:xfrm>
            <a:off x="457200" y="6473952"/>
            <a:ext cx="11274552" cy="347472"/>
          </a:xfrm>
          <a:prstGeom prst="rect">
            <a:avLst/>
          </a:prstGeom>
          <a:noFill/>
        </p:spPr>
        <p:txBody>
          <a:bodyPr wrap="square">
            <a:spAutoFit/>
          </a:bodyPr>
          <a:lstStyle/>
          <a:p>
            <a:pPr algn="l">
              <a:spcBef>
                <a:spcPts val="0"/>
              </a:spcBef>
            </a:pPr>
            <a:r>
              <a:rPr sz="1300" b="1">
                <a:solidFill>
                  <a:srgbClr val="454545"/>
                </a:solidFill>
                <a:latin typeface="Aptos Narrow"/>
              </a:rPr>
              <a:t>Code: rag/indexer.py → build_index()   |   Chunk size is the biggest tuning lever — no universal answer</a:t>
            </a:r>
          </a:p>
        </p:txBody>
      </p:sp>
      <p:sp>
        <p:nvSpPr>
          <p:cNvPr id="6" name="TextBox 5">
            <a:extLst>
              <a:ext uri="{FF2B5EF4-FFF2-40B4-BE49-F238E27FC236}">
                <a16:creationId xmlns:a16="http://schemas.microsoft.com/office/drawing/2014/main" id="{9F6C1CFA-B501-B645-4409-236BFB897A03}"/>
              </a:ext>
            </a:extLst>
          </p:cNvPr>
          <p:cNvSpPr txBox="1"/>
          <p:nvPr/>
        </p:nvSpPr>
        <p:spPr>
          <a:xfrm>
            <a:off x="2097786" y="1295781"/>
            <a:ext cx="7955280" cy="646331"/>
          </a:xfrm>
          <a:prstGeom prst="rect">
            <a:avLst/>
          </a:prstGeom>
          <a:noFill/>
        </p:spPr>
        <p:txBody>
          <a:bodyPr wrap="square">
            <a:spAutoFit/>
          </a:bodyPr>
          <a:lstStyle/>
          <a:p>
            <a:pPr algn="l">
              <a:spcBef>
                <a:spcPts val="0"/>
              </a:spcBef>
            </a:pPr>
            <a:r>
              <a:rPr sz="2000" b="1" dirty="0">
                <a:solidFill>
                  <a:srgbClr val="FFFFFF"/>
                </a:solidFill>
                <a:latin typeface="Aptos Narrow"/>
              </a:rPr>
              <a:t>User Question</a:t>
            </a:r>
          </a:p>
          <a:p>
            <a:pPr algn="l">
              <a:spcBef>
                <a:spcPts val="30"/>
              </a:spcBef>
            </a:pPr>
            <a:r>
              <a:rPr sz="1600" b="0" dirty="0">
                <a:solidFill>
                  <a:srgbClr val="FFFFFF"/>
                </a:solidFill>
                <a:latin typeface="Aptos Narrow"/>
              </a:rPr>
              <a:t>"What is the SLA for our Kinesis consumer?"</a:t>
            </a:r>
          </a:p>
        </p:txBody>
      </p:sp>
      <p:sp>
        <p:nvSpPr>
          <p:cNvPr id="9" name="TextBox 8">
            <a:extLst>
              <a:ext uri="{FF2B5EF4-FFF2-40B4-BE49-F238E27FC236}">
                <a16:creationId xmlns:a16="http://schemas.microsoft.com/office/drawing/2014/main" id="{DE4C3BBB-3669-DC85-3217-3C2292577822}"/>
              </a:ext>
            </a:extLst>
          </p:cNvPr>
          <p:cNvSpPr txBox="1"/>
          <p:nvPr/>
        </p:nvSpPr>
        <p:spPr>
          <a:xfrm>
            <a:off x="2040636" y="2351151"/>
            <a:ext cx="7955280" cy="646331"/>
          </a:xfrm>
          <a:prstGeom prst="rect">
            <a:avLst/>
          </a:prstGeom>
          <a:noFill/>
        </p:spPr>
        <p:txBody>
          <a:bodyPr wrap="square">
            <a:spAutoFit/>
          </a:bodyPr>
          <a:lstStyle/>
          <a:p>
            <a:pPr algn="l">
              <a:spcBef>
                <a:spcPts val="0"/>
              </a:spcBef>
            </a:pPr>
            <a:r>
              <a:rPr sz="2000" b="1" dirty="0">
                <a:solidFill>
                  <a:srgbClr val="1C395E"/>
                </a:solidFill>
                <a:latin typeface="Aptos Narrow"/>
              </a:rPr>
              <a:t>Embed Question  (same model as indexing)</a:t>
            </a:r>
          </a:p>
          <a:p>
            <a:pPr algn="l">
              <a:spcBef>
                <a:spcPts val="30"/>
              </a:spcBef>
            </a:pPr>
            <a:r>
              <a:rPr sz="1600" b="0" dirty="0">
                <a:solidFill>
                  <a:srgbClr val="454545"/>
                </a:solidFill>
                <a:latin typeface="Aptos Narrow"/>
              </a:rPr>
              <a:t>1,536-float vector  —  meaning captured as geometry</a:t>
            </a:r>
          </a:p>
        </p:txBody>
      </p:sp>
      <p:sp>
        <p:nvSpPr>
          <p:cNvPr id="10" name="TextBox 9">
            <a:extLst>
              <a:ext uri="{FF2B5EF4-FFF2-40B4-BE49-F238E27FC236}">
                <a16:creationId xmlns:a16="http://schemas.microsoft.com/office/drawing/2014/main" id="{40CA2A6A-42F1-273B-E5C9-F97B9BE7AEDC}"/>
              </a:ext>
            </a:extLst>
          </p:cNvPr>
          <p:cNvSpPr txBox="1"/>
          <p:nvPr/>
        </p:nvSpPr>
        <p:spPr>
          <a:xfrm>
            <a:off x="2012061" y="3358896"/>
            <a:ext cx="7955280" cy="646331"/>
          </a:xfrm>
          <a:prstGeom prst="rect">
            <a:avLst/>
          </a:prstGeom>
          <a:noFill/>
        </p:spPr>
        <p:txBody>
          <a:bodyPr wrap="square">
            <a:spAutoFit/>
          </a:bodyPr>
          <a:lstStyle/>
          <a:p>
            <a:pPr algn="l">
              <a:spcBef>
                <a:spcPts val="0"/>
              </a:spcBef>
            </a:pPr>
            <a:r>
              <a:rPr sz="2000" b="1" dirty="0" err="1">
                <a:solidFill>
                  <a:schemeClr val="bg1"/>
                </a:solidFill>
                <a:latin typeface="Aptos Narrow"/>
              </a:rPr>
              <a:t>ChromaDB</a:t>
            </a:r>
            <a:r>
              <a:rPr sz="2000" b="1" dirty="0">
                <a:solidFill>
                  <a:schemeClr val="bg1"/>
                </a:solidFill>
                <a:latin typeface="Aptos Narrow"/>
              </a:rPr>
              <a:t> cosine similarity search  k=4</a:t>
            </a:r>
          </a:p>
          <a:p>
            <a:pPr algn="l">
              <a:spcBef>
                <a:spcPts val="30"/>
              </a:spcBef>
            </a:pPr>
            <a:r>
              <a:rPr sz="1600" b="0" dirty="0">
                <a:solidFill>
                  <a:schemeClr val="bg1"/>
                </a:solidFill>
                <a:latin typeface="Aptos Narrow"/>
              </a:rPr>
              <a:t>Finds 4 chunks whose meaning is closest to the question</a:t>
            </a:r>
          </a:p>
        </p:txBody>
      </p:sp>
      <p:sp>
        <p:nvSpPr>
          <p:cNvPr id="12" name="TextBox 11">
            <a:extLst>
              <a:ext uri="{FF2B5EF4-FFF2-40B4-BE49-F238E27FC236}">
                <a16:creationId xmlns:a16="http://schemas.microsoft.com/office/drawing/2014/main" id="{9F3B7A4F-D9CF-1303-43CF-A97452BE9641}"/>
              </a:ext>
            </a:extLst>
          </p:cNvPr>
          <p:cNvSpPr txBox="1"/>
          <p:nvPr/>
        </p:nvSpPr>
        <p:spPr>
          <a:xfrm>
            <a:off x="2040636" y="4366641"/>
            <a:ext cx="7955280" cy="646331"/>
          </a:xfrm>
          <a:prstGeom prst="rect">
            <a:avLst/>
          </a:prstGeom>
          <a:noFill/>
        </p:spPr>
        <p:txBody>
          <a:bodyPr wrap="square">
            <a:spAutoFit/>
          </a:bodyPr>
          <a:lstStyle/>
          <a:p>
            <a:pPr algn="l">
              <a:spcBef>
                <a:spcPts val="0"/>
              </a:spcBef>
            </a:pPr>
            <a:r>
              <a:rPr sz="2000" b="1" dirty="0" err="1">
                <a:solidFill>
                  <a:srgbClr val="1C395E"/>
                </a:solidFill>
                <a:latin typeface="Aptos Narrow"/>
              </a:rPr>
              <a:t>RetrievalQA</a:t>
            </a:r>
            <a:r>
              <a:rPr sz="2000" b="1" dirty="0">
                <a:solidFill>
                  <a:srgbClr val="1C395E"/>
                </a:solidFill>
                <a:latin typeface="Aptos Narrow"/>
              </a:rPr>
              <a:t> chain  —  “stuff” strategy</a:t>
            </a:r>
          </a:p>
          <a:p>
            <a:pPr algn="l">
              <a:spcBef>
                <a:spcPts val="30"/>
              </a:spcBef>
            </a:pPr>
            <a:r>
              <a:rPr sz="1600" b="0" dirty="0">
                <a:solidFill>
                  <a:srgbClr val="454545"/>
                </a:solidFill>
                <a:latin typeface="Aptos Narrow"/>
              </a:rPr>
              <a:t>System + Chunk 1 + Chunk 2 + Chunk 3 + Chunk 4 + Question</a:t>
            </a:r>
          </a:p>
        </p:txBody>
      </p:sp>
      <p:sp>
        <p:nvSpPr>
          <p:cNvPr id="15" name="TextBox 14">
            <a:extLst>
              <a:ext uri="{FF2B5EF4-FFF2-40B4-BE49-F238E27FC236}">
                <a16:creationId xmlns:a16="http://schemas.microsoft.com/office/drawing/2014/main" id="{D820CB60-B9FD-9093-62E2-94F1662EFBE3}"/>
              </a:ext>
            </a:extLst>
          </p:cNvPr>
          <p:cNvSpPr txBox="1"/>
          <p:nvPr/>
        </p:nvSpPr>
        <p:spPr>
          <a:xfrm>
            <a:off x="2116836" y="5383911"/>
            <a:ext cx="7955280" cy="646331"/>
          </a:xfrm>
          <a:prstGeom prst="rect">
            <a:avLst/>
          </a:prstGeom>
          <a:noFill/>
        </p:spPr>
        <p:txBody>
          <a:bodyPr wrap="square">
            <a:spAutoFit/>
          </a:bodyPr>
          <a:lstStyle/>
          <a:p>
            <a:pPr algn="l">
              <a:spcBef>
                <a:spcPts val="0"/>
              </a:spcBef>
            </a:pPr>
            <a:r>
              <a:rPr sz="2000" b="1" dirty="0">
                <a:solidFill>
                  <a:srgbClr val="FFFFFF"/>
                </a:solidFill>
                <a:latin typeface="Aptos Narrow"/>
              </a:rPr>
              <a:t>AWS Nova Lite generates answer</a:t>
            </a:r>
          </a:p>
          <a:p>
            <a:pPr algn="l">
              <a:spcBef>
                <a:spcPts val="30"/>
              </a:spcBef>
            </a:pPr>
            <a:r>
              <a:rPr sz="1600" b="0" dirty="0">
                <a:solidFill>
                  <a:srgbClr val="FFFFFF"/>
                </a:solidFill>
                <a:latin typeface="Aptos Narrow"/>
              </a:rPr>
              <a:t>Grounded answer + source citations  —  never invents</a:t>
            </a:r>
          </a:p>
        </p:txBody>
      </p:sp>
    </p:spTree>
    <p:extLst>
      <p:ext uri="{BB962C8B-B14F-4D97-AF65-F5344CB8AC3E}">
        <p14:creationId xmlns:p14="http://schemas.microsoft.com/office/powerpoint/2010/main" val="3197080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8F5EB"/>
        </a:solidFill>
        <a:effectLst/>
      </p:bgPr>
    </p:bg>
    <p:spTree>
      <p:nvGrpSpPr>
        <p:cNvPr id="1" name=""/>
        <p:cNvGrpSpPr/>
        <p:nvPr/>
      </p:nvGrpSpPr>
      <p:grpSpPr>
        <a:xfrm>
          <a:off x="0" y="0"/>
          <a:ext cx="0" cy="0"/>
          <a:chOff x="0" y="0"/>
          <a:chExt cx="0" cy="0"/>
        </a:xfrm>
      </p:grpSpPr>
      <p:sp>
        <p:nvSpPr>
          <p:cNvPr id="2" name="Rectangle 1"/>
          <p:cNvSpPr/>
          <p:nvPr/>
        </p:nvSpPr>
        <p:spPr>
          <a:xfrm>
            <a:off x="457200" y="137160"/>
            <a:ext cx="2560320" cy="548640"/>
          </a:xfrm>
          <a:prstGeom prst="rect">
            <a:avLst/>
          </a:prstGeom>
          <a:solidFill>
            <a:srgbClr val="12562E"/>
          </a:solidFill>
          <a:ln w="9525">
            <a:solidFill>
              <a:srgbClr val="1256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64592"/>
            <a:ext cx="2331720" cy="493776"/>
          </a:xfrm>
          <a:prstGeom prst="rect">
            <a:avLst/>
          </a:prstGeom>
          <a:noFill/>
        </p:spPr>
        <p:txBody>
          <a:bodyPr wrap="square">
            <a:spAutoFit/>
          </a:bodyPr>
          <a:lstStyle/>
          <a:p>
            <a:pPr algn="l">
              <a:spcBef>
                <a:spcPts val="0"/>
              </a:spcBef>
            </a:pPr>
            <a:r>
              <a:rPr sz="1400" b="1">
                <a:solidFill>
                  <a:srgbClr val="FFFFFF"/>
                </a:solidFill>
                <a:latin typeface="Aptos Narrow"/>
              </a:rPr>
              <a:t>🔬  LAB  ·  Sprint 1</a:t>
            </a:r>
          </a:p>
        </p:txBody>
      </p:sp>
      <p:sp>
        <p:nvSpPr>
          <p:cNvPr id="4" name="TextBox 3"/>
          <p:cNvSpPr txBox="1"/>
          <p:nvPr/>
        </p:nvSpPr>
        <p:spPr>
          <a:xfrm>
            <a:off x="457200" y="786384"/>
            <a:ext cx="11274552" cy="658368"/>
          </a:xfrm>
          <a:prstGeom prst="rect">
            <a:avLst/>
          </a:prstGeom>
          <a:noFill/>
        </p:spPr>
        <p:txBody>
          <a:bodyPr wrap="square">
            <a:spAutoFit/>
          </a:bodyPr>
          <a:lstStyle/>
          <a:p>
            <a:pPr algn="l">
              <a:spcBef>
                <a:spcPts val="0"/>
              </a:spcBef>
            </a:pPr>
            <a:r>
              <a:rPr sz="2800" b="1">
                <a:solidFill>
                  <a:srgbClr val="12562E"/>
                </a:solidFill>
                <a:latin typeface="Aptos Narrow"/>
              </a:rPr>
              <a:t>Sprint 1 of SIGMA-BRAIN — Build It Now</a:t>
            </a:r>
          </a:p>
        </p:txBody>
      </p:sp>
      <p:sp>
        <p:nvSpPr>
          <p:cNvPr id="5" name="Rectangle 4"/>
          <p:cNvSpPr/>
          <p:nvPr/>
        </p:nvSpPr>
        <p:spPr>
          <a:xfrm>
            <a:off x="457200" y="1463040"/>
            <a:ext cx="11274552" cy="34747"/>
          </a:xfrm>
          <a:prstGeom prst="rect">
            <a:avLst/>
          </a:prstGeom>
          <a:solidFill>
            <a:srgbClr val="12562E"/>
          </a:solidFill>
          <a:ln w="9525">
            <a:solidFill>
              <a:srgbClr val="1256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91056"/>
            <a:ext cx="11274552" cy="5029200"/>
          </a:xfrm>
          <a:prstGeom prst="rect">
            <a:avLst/>
          </a:prstGeom>
          <a:noFill/>
        </p:spPr>
        <p:txBody>
          <a:bodyPr wrap="square">
            <a:spAutoFit/>
          </a:bodyPr>
          <a:lstStyle/>
          <a:p>
            <a:pPr algn="l">
              <a:spcBef>
                <a:spcPts val="0"/>
              </a:spcBef>
            </a:pPr>
            <a:r>
              <a:rPr sz="1900" b="1" dirty="0">
                <a:solidFill>
                  <a:srgbClr val="1C395E"/>
                </a:solidFill>
                <a:latin typeface="Aptos Narrow"/>
              </a:rPr>
              <a:t>Setup:</a:t>
            </a:r>
          </a:p>
          <a:p>
            <a:pPr algn="l">
              <a:spcBef>
                <a:spcPts val="90"/>
              </a:spcBef>
            </a:pPr>
            <a:r>
              <a:rPr sz="1500" b="0" dirty="0">
                <a:solidFill>
                  <a:srgbClr val="1A1A1A"/>
                </a:solidFill>
                <a:latin typeface="Aptos Narrow"/>
              </a:rPr>
              <a:t>    cd rag-project</a:t>
            </a:r>
          </a:p>
          <a:p>
            <a:pPr algn="l">
              <a:spcBef>
                <a:spcPts val="90"/>
              </a:spcBef>
            </a:pPr>
            <a:r>
              <a:rPr sz="1500" b="0" dirty="0">
                <a:solidFill>
                  <a:srgbClr val="1A1A1A"/>
                </a:solidFill>
                <a:latin typeface="Aptos Narrow"/>
              </a:rPr>
              <a:t>    </a:t>
            </a:r>
            <a:r>
              <a:rPr sz="1500" b="0" dirty="0" err="1">
                <a:solidFill>
                  <a:srgbClr val="1A1A1A"/>
                </a:solidFill>
                <a:latin typeface="Aptos Narrow"/>
              </a:rPr>
              <a:t>venv</a:t>
            </a:r>
            <a:r>
              <a:rPr sz="1500" b="0" dirty="0">
                <a:solidFill>
                  <a:srgbClr val="1A1A1A"/>
                </a:solidFill>
                <a:latin typeface="Aptos Narrow"/>
              </a:rPr>
              <a:t>\Scripts\activate        # Windows</a:t>
            </a:r>
          </a:p>
          <a:p>
            <a:pPr algn="l">
              <a:spcBef>
                <a:spcPts val="90"/>
              </a:spcBef>
            </a:pPr>
            <a:r>
              <a:rPr sz="1500" b="0" dirty="0">
                <a:solidFill>
                  <a:srgbClr val="1A1A1A"/>
                </a:solidFill>
                <a:latin typeface="Aptos Narrow"/>
              </a:rPr>
              <a:t>    </a:t>
            </a:r>
            <a:r>
              <a:rPr sz="1500" b="0" dirty="0" err="1">
                <a:solidFill>
                  <a:srgbClr val="1A1A1A"/>
                </a:solidFill>
                <a:latin typeface="Aptos Narrow"/>
              </a:rPr>
              <a:t>streamlit</a:t>
            </a:r>
            <a:r>
              <a:rPr sz="1500" b="0" dirty="0">
                <a:solidFill>
                  <a:srgbClr val="1A1A1A"/>
                </a:solidFill>
                <a:latin typeface="Aptos Narrow"/>
              </a:rPr>
              <a:t> run app.py</a:t>
            </a:r>
          </a:p>
          <a:p>
            <a:pPr algn="l">
              <a:spcBef>
                <a:spcPts val="90"/>
              </a:spcBef>
            </a:pPr>
            <a:r>
              <a:rPr sz="1800" b="0" dirty="0">
                <a:solidFill>
                  <a:srgbClr val="1A1A1A"/>
                </a:solidFill>
                <a:latin typeface="Aptos Narrow"/>
              </a:rPr>
              <a:t>  •  Open  http://localhost:8501</a:t>
            </a:r>
          </a:p>
          <a:p>
            <a:pPr algn="l">
              <a:spcBef>
                <a:spcPts val="40"/>
              </a:spcBef>
            </a:pPr>
            <a:endParaRPr sz="1800" b="0" dirty="0">
              <a:solidFill>
                <a:srgbClr val="1A1A1A"/>
              </a:solidFill>
              <a:latin typeface="Aptos Narrow"/>
            </a:endParaRPr>
          </a:p>
          <a:p>
            <a:pPr algn="l">
              <a:spcBef>
                <a:spcPts val="90"/>
              </a:spcBef>
            </a:pPr>
            <a:r>
              <a:rPr sz="1900" b="1" dirty="0">
                <a:solidFill>
                  <a:srgbClr val="1C395E"/>
                </a:solidFill>
                <a:latin typeface="Aptos Narrow"/>
              </a:rPr>
              <a:t>Mission — 4 tasks:</a:t>
            </a:r>
          </a:p>
          <a:p>
            <a:pPr algn="l">
              <a:spcBef>
                <a:spcPts val="90"/>
              </a:spcBef>
            </a:pPr>
            <a:r>
              <a:rPr sz="1800" b="0" dirty="0">
                <a:solidFill>
                  <a:srgbClr val="1A1A1A"/>
                </a:solidFill>
                <a:latin typeface="Aptos Narrow"/>
              </a:rPr>
              <a:t>  •  Upload  Corporate_HR_Policy_Document.pdf  →  Build Index  →  note chunk count in sidebar</a:t>
            </a:r>
          </a:p>
          <a:p>
            <a:pPr algn="l">
              <a:spcBef>
                <a:spcPts val="90"/>
              </a:spcBef>
            </a:pPr>
            <a:r>
              <a:rPr sz="1800" b="0" dirty="0">
                <a:solidFill>
                  <a:srgbClr val="1A1A1A"/>
                </a:solidFill>
                <a:latin typeface="Aptos Narrow"/>
              </a:rPr>
              <a:t>  •  Ask:  'What is the maternity leave policy?'  →  check the Sources panel</a:t>
            </a:r>
          </a:p>
          <a:p>
            <a:pPr algn="l">
              <a:spcBef>
                <a:spcPts val="90"/>
              </a:spcBef>
            </a:pPr>
            <a:r>
              <a:rPr sz="1800" b="0" dirty="0">
                <a:solidFill>
                  <a:srgbClr val="1A1A1A"/>
                </a:solidFill>
                <a:latin typeface="Aptos Narrow"/>
              </a:rPr>
              <a:t>  •  Ask:  'Can I work from home every day?'  →  does it cite a source or hallucinate?</a:t>
            </a:r>
          </a:p>
          <a:p>
            <a:pPr algn="l">
              <a:spcBef>
                <a:spcPts val="90"/>
              </a:spcBef>
            </a:pPr>
            <a:r>
              <a:rPr sz="1800" b="0" dirty="0">
                <a:solidFill>
                  <a:srgbClr val="1A1A1A"/>
                </a:solidFill>
                <a:latin typeface="Aptos Narrow"/>
              </a:rPr>
              <a:t>  •  Ask something the document cannot answer  →  watch what the LLM does</a:t>
            </a:r>
          </a:p>
          <a:p>
            <a:pPr algn="l">
              <a:spcBef>
                <a:spcPts val="40"/>
              </a:spcBef>
            </a:pPr>
            <a:endParaRPr sz="1800" b="0" dirty="0">
              <a:solidFill>
                <a:srgbClr val="1A1A1A"/>
              </a:solidFill>
              <a:latin typeface="Aptos Narrow"/>
            </a:endParaRPr>
          </a:p>
          <a:p>
            <a:pPr algn="l">
              <a:spcBef>
                <a:spcPts val="90"/>
              </a:spcBef>
            </a:pPr>
            <a:r>
              <a:rPr sz="1900" b="1" dirty="0">
                <a:solidFill>
                  <a:srgbClr val="1C395E"/>
                </a:solidFill>
                <a:latin typeface="Aptos Narrow"/>
              </a:rPr>
              <a:t>Key observation:</a:t>
            </a:r>
          </a:p>
          <a:p>
            <a:pPr algn="l">
              <a:spcBef>
                <a:spcPts val="90"/>
              </a:spcBef>
            </a:pPr>
            <a:r>
              <a:rPr sz="1800" b="0" dirty="0">
                <a:solidFill>
                  <a:srgbClr val="1A1A1A"/>
                </a:solidFill>
                <a:latin typeface="Aptos Narrow"/>
              </a:rPr>
              <a:t>  •  If the answer is NOT in the Sources panel  —  that is hallucination. Your retrieval worked; generation went off-script.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Your College RAG vs Enterprise Production</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2584001956"/>
              </p:ext>
            </p:extLst>
          </p:nvPr>
        </p:nvGraphicFramePr>
        <p:xfrm>
          <a:off x="457200" y="1170432"/>
          <a:ext cx="11274551" cy="5093208"/>
        </p:xfrm>
        <a:graphic>
          <a:graphicData uri="http://schemas.openxmlformats.org/drawingml/2006/table">
            <a:tbl>
              <a:tblPr firstRow="1" bandRow="1">
                <a:tableStyleId>{5C22544A-7EE6-4342-B048-85BDC9FD1C3A}</a:tableStyleId>
              </a:tblPr>
              <a:tblGrid>
                <a:gridCol w="2566564">
                  <a:extLst>
                    <a:ext uri="{9D8B030D-6E8A-4147-A177-3AD203B41FA5}">
                      <a16:colId xmlns:a16="http://schemas.microsoft.com/office/drawing/2014/main" val="20000"/>
                    </a:ext>
                  </a:extLst>
                </a:gridCol>
                <a:gridCol w="4124836">
                  <a:extLst>
                    <a:ext uri="{9D8B030D-6E8A-4147-A177-3AD203B41FA5}">
                      <a16:colId xmlns:a16="http://schemas.microsoft.com/office/drawing/2014/main" val="20001"/>
                    </a:ext>
                  </a:extLst>
                </a:gridCol>
                <a:gridCol w="4583151">
                  <a:extLst>
                    <a:ext uri="{9D8B030D-6E8A-4147-A177-3AD203B41FA5}">
                      <a16:colId xmlns:a16="http://schemas.microsoft.com/office/drawing/2014/main" val="20002"/>
                    </a:ext>
                  </a:extLst>
                </a:gridCol>
              </a:tblGrid>
              <a:tr h="727601">
                <a:tc>
                  <a:txBody>
                    <a:bodyPr/>
                    <a:lstStyle/>
                    <a:p>
                      <a:pPr algn="l"/>
                      <a:r>
                        <a:rPr sz="2000" b="1">
                          <a:solidFill>
                            <a:srgbClr val="FFFFFF"/>
                          </a:solidFill>
                          <a:latin typeface="Aptos Narrow"/>
                        </a:rPr>
                        <a:t>Gap</a:t>
                      </a:r>
                    </a:p>
                  </a:txBody>
                  <a:tcPr marL="64008" marT="64008" marB="64008">
                    <a:solidFill>
                      <a:srgbClr val="1C395E"/>
                    </a:solidFill>
                  </a:tcPr>
                </a:tc>
                <a:tc>
                  <a:txBody>
                    <a:bodyPr/>
                    <a:lstStyle/>
                    <a:p>
                      <a:pPr algn="l"/>
                      <a:r>
                        <a:rPr sz="2000" b="1">
                          <a:solidFill>
                            <a:srgbClr val="FFFFFF"/>
                          </a:solidFill>
                          <a:latin typeface="Aptos Narrow"/>
                        </a:rPr>
                        <a:t>College Project</a:t>
                      </a:r>
                    </a:p>
                  </a:txBody>
                  <a:tcPr marL="64008" marT="64008" marB="64008">
                    <a:solidFill>
                      <a:srgbClr val="1C395E"/>
                    </a:solidFill>
                  </a:tcPr>
                </a:tc>
                <a:tc>
                  <a:txBody>
                    <a:bodyPr/>
                    <a:lstStyle/>
                    <a:p>
                      <a:pPr algn="l"/>
                      <a:r>
                        <a:rPr sz="2000" b="1">
                          <a:solidFill>
                            <a:srgbClr val="FFFFFF"/>
                          </a:solidFill>
                          <a:latin typeface="Aptos Narrow"/>
                        </a:rPr>
                        <a:t>Enterprise Production</a:t>
                      </a:r>
                    </a:p>
                  </a:txBody>
                  <a:tcPr marL="64008" marT="64008" marB="64008">
                    <a:solidFill>
                      <a:srgbClr val="1C395E"/>
                    </a:solidFill>
                  </a:tcPr>
                </a:tc>
                <a:extLst>
                  <a:ext uri="{0D108BD9-81ED-4DB2-BD59-A6C34878D82A}">
                    <a16:rowId xmlns:a16="http://schemas.microsoft.com/office/drawing/2014/main" val="10000"/>
                  </a:ext>
                </a:extLst>
              </a:tr>
              <a:tr h="727601">
                <a:tc>
                  <a:txBody>
                    <a:bodyPr/>
                    <a:lstStyle/>
                    <a:p>
                      <a:pPr algn="l"/>
                      <a:r>
                        <a:rPr sz="2000" b="1">
                          <a:solidFill>
                            <a:srgbClr val="1A1A1A"/>
                          </a:solidFill>
                          <a:latin typeface="Aptos Narrow"/>
                        </a:rPr>
                        <a:t>Chunking</a:t>
                      </a:r>
                    </a:p>
                  </a:txBody>
                  <a:tcPr marL="54864" marT="54864" marB="54864">
                    <a:solidFill>
                      <a:srgbClr val="F0F4FF"/>
                    </a:solidFill>
                  </a:tcPr>
                </a:tc>
                <a:tc>
                  <a:txBody>
                    <a:bodyPr/>
                    <a:lstStyle/>
                    <a:p>
                      <a:pPr algn="l"/>
                      <a:r>
                        <a:rPr sz="2000" b="0">
                          <a:solidFill>
                            <a:srgbClr val="1A1A1A"/>
                          </a:solidFill>
                          <a:latin typeface="Aptos Narrow"/>
                        </a:rPr>
                        <a:t>Fixed 1,000 chars (tutorial default)</a:t>
                      </a:r>
                    </a:p>
                  </a:txBody>
                  <a:tcPr marL="54864" marT="54864" marB="54864">
                    <a:solidFill>
                      <a:srgbClr val="F0F4FF"/>
                    </a:solidFill>
                  </a:tcPr>
                </a:tc>
                <a:tc>
                  <a:txBody>
                    <a:bodyPr/>
                    <a:lstStyle/>
                    <a:p>
                      <a:pPr algn="l"/>
                      <a:r>
                        <a:rPr sz="2000" b="0">
                          <a:solidFill>
                            <a:srgbClr val="1A1A1A"/>
                          </a:solidFill>
                          <a:latin typeface="Aptos Narrow"/>
                        </a:rPr>
                        <a:t>Semantic / parent-child by document structure</a:t>
                      </a:r>
                    </a:p>
                  </a:txBody>
                  <a:tcPr marL="54864" marT="54864" marB="54864">
                    <a:solidFill>
                      <a:srgbClr val="F0F4FF"/>
                    </a:solidFill>
                  </a:tcPr>
                </a:tc>
                <a:extLst>
                  <a:ext uri="{0D108BD9-81ED-4DB2-BD59-A6C34878D82A}">
                    <a16:rowId xmlns:a16="http://schemas.microsoft.com/office/drawing/2014/main" val="10001"/>
                  </a:ext>
                </a:extLst>
              </a:tr>
              <a:tr h="727601">
                <a:tc>
                  <a:txBody>
                    <a:bodyPr/>
                    <a:lstStyle/>
                    <a:p>
                      <a:pPr algn="l"/>
                      <a:r>
                        <a:rPr sz="2000" b="1">
                          <a:solidFill>
                            <a:srgbClr val="1A1A1A"/>
                          </a:solidFill>
                          <a:latin typeface="Aptos Narrow"/>
                        </a:rPr>
                        <a:t>Retrieval</a:t>
                      </a:r>
                    </a:p>
                  </a:txBody>
                  <a:tcPr marL="54864" marT="54864" marB="54864">
                    <a:solidFill>
                      <a:srgbClr val="FFFFFF"/>
                    </a:solidFill>
                  </a:tcPr>
                </a:tc>
                <a:tc>
                  <a:txBody>
                    <a:bodyPr/>
                    <a:lstStyle/>
                    <a:p>
                      <a:pPr algn="l"/>
                      <a:r>
                        <a:rPr sz="2000" b="0">
                          <a:solidFill>
                            <a:srgbClr val="1A1A1A"/>
                          </a:solidFill>
                          <a:latin typeface="Aptos Narrow"/>
                        </a:rPr>
                        <a:t>Top-k cosine search</a:t>
                      </a:r>
                    </a:p>
                  </a:txBody>
                  <a:tcPr marL="54864" marT="54864" marB="54864">
                    <a:solidFill>
                      <a:srgbClr val="FFFFFF"/>
                    </a:solidFill>
                  </a:tcPr>
                </a:tc>
                <a:tc>
                  <a:txBody>
                    <a:bodyPr/>
                    <a:lstStyle/>
                    <a:p>
                      <a:pPr algn="l"/>
                      <a:r>
                        <a:rPr sz="2000" b="0">
                          <a:solidFill>
                            <a:srgbClr val="1A1A1A"/>
                          </a:solidFill>
                          <a:latin typeface="Aptos Narrow"/>
                        </a:rPr>
                        <a:t>Cosine k=20 → Cohere Rerank → top 4</a:t>
                      </a:r>
                    </a:p>
                  </a:txBody>
                  <a:tcPr marL="54864" marT="54864" marB="54864">
                    <a:solidFill>
                      <a:srgbClr val="FFFFFF"/>
                    </a:solidFill>
                  </a:tcPr>
                </a:tc>
                <a:extLst>
                  <a:ext uri="{0D108BD9-81ED-4DB2-BD59-A6C34878D82A}">
                    <a16:rowId xmlns:a16="http://schemas.microsoft.com/office/drawing/2014/main" val="10002"/>
                  </a:ext>
                </a:extLst>
              </a:tr>
              <a:tr h="727601">
                <a:tc>
                  <a:txBody>
                    <a:bodyPr/>
                    <a:lstStyle/>
                    <a:p>
                      <a:pPr algn="l"/>
                      <a:r>
                        <a:rPr sz="2000" b="1">
                          <a:solidFill>
                            <a:srgbClr val="1A1A1A"/>
                          </a:solidFill>
                          <a:latin typeface="Aptos Narrow"/>
                        </a:rPr>
                        <a:t>Freshness</a:t>
                      </a:r>
                    </a:p>
                  </a:txBody>
                  <a:tcPr marL="54864" marT="54864" marB="54864">
                    <a:solidFill>
                      <a:srgbClr val="F0F4FF"/>
                    </a:solidFill>
                  </a:tcPr>
                </a:tc>
                <a:tc>
                  <a:txBody>
                    <a:bodyPr/>
                    <a:lstStyle/>
                    <a:p>
                      <a:pPr algn="l"/>
                      <a:r>
                        <a:rPr sz="2000" b="0">
                          <a:solidFill>
                            <a:srgbClr val="1A1A1A"/>
                          </a:solidFill>
                          <a:latin typeface="Aptos Narrow"/>
                        </a:rPr>
                        <a:t>Re-index manually when you remember</a:t>
                      </a:r>
                    </a:p>
                  </a:txBody>
                  <a:tcPr marL="54864" marT="54864" marB="54864">
                    <a:solidFill>
                      <a:srgbClr val="F0F4FF"/>
                    </a:solidFill>
                  </a:tcPr>
                </a:tc>
                <a:tc>
                  <a:txBody>
                    <a:bodyPr/>
                    <a:lstStyle/>
                    <a:p>
                      <a:pPr algn="l"/>
                      <a:r>
                        <a:rPr sz="2000" b="0">
                          <a:solidFill>
                            <a:srgbClr val="1A1A1A"/>
                          </a:solidFill>
                          <a:latin typeface="Aptos Narrow"/>
                        </a:rPr>
                        <a:t>Nightly Airflow DAG — incremental by doc version</a:t>
                      </a:r>
                    </a:p>
                  </a:txBody>
                  <a:tcPr marL="54864" marT="54864" marB="54864">
                    <a:solidFill>
                      <a:srgbClr val="F0F4FF"/>
                    </a:solidFill>
                  </a:tcPr>
                </a:tc>
                <a:extLst>
                  <a:ext uri="{0D108BD9-81ED-4DB2-BD59-A6C34878D82A}">
                    <a16:rowId xmlns:a16="http://schemas.microsoft.com/office/drawing/2014/main" val="10003"/>
                  </a:ext>
                </a:extLst>
              </a:tr>
              <a:tr h="727601">
                <a:tc>
                  <a:txBody>
                    <a:bodyPr/>
                    <a:lstStyle/>
                    <a:p>
                      <a:pPr algn="l"/>
                      <a:r>
                        <a:rPr sz="2000" b="1">
                          <a:solidFill>
                            <a:srgbClr val="1A1A1A"/>
                          </a:solidFill>
                          <a:latin typeface="Aptos Narrow"/>
                        </a:rPr>
                        <a:t>Access control</a:t>
                      </a:r>
                    </a:p>
                  </a:txBody>
                  <a:tcPr marL="54864" marT="54864" marB="54864">
                    <a:solidFill>
                      <a:srgbClr val="FFFFFF"/>
                    </a:solidFill>
                  </a:tcPr>
                </a:tc>
                <a:tc>
                  <a:txBody>
                    <a:bodyPr/>
                    <a:lstStyle/>
                    <a:p>
                      <a:pPr algn="l"/>
                      <a:r>
                        <a:rPr sz="2000" b="0">
                          <a:solidFill>
                            <a:srgbClr val="1A1A1A"/>
                          </a:solidFill>
                          <a:latin typeface="Aptos Narrow"/>
                        </a:rPr>
                        <a:t>None — everyone sees everything</a:t>
                      </a:r>
                    </a:p>
                  </a:txBody>
                  <a:tcPr marL="54864" marT="54864" marB="54864">
                    <a:solidFill>
                      <a:srgbClr val="FFFFFF"/>
                    </a:solidFill>
                  </a:tcPr>
                </a:tc>
                <a:tc>
                  <a:txBody>
                    <a:bodyPr/>
                    <a:lstStyle/>
                    <a:p>
                      <a:pPr algn="l"/>
                      <a:r>
                        <a:rPr sz="2000" b="0">
                          <a:solidFill>
                            <a:srgbClr val="1A1A1A"/>
                          </a:solidFill>
                          <a:latin typeface="Aptos Narrow"/>
                        </a:rPr>
                        <a:t>Metadata filters — HR docs invisible to contractors</a:t>
                      </a:r>
                    </a:p>
                  </a:txBody>
                  <a:tcPr marL="54864" marT="54864" marB="54864">
                    <a:solidFill>
                      <a:srgbClr val="FFFFFF"/>
                    </a:solidFill>
                  </a:tcPr>
                </a:tc>
                <a:extLst>
                  <a:ext uri="{0D108BD9-81ED-4DB2-BD59-A6C34878D82A}">
                    <a16:rowId xmlns:a16="http://schemas.microsoft.com/office/drawing/2014/main" val="10004"/>
                  </a:ext>
                </a:extLst>
              </a:tr>
              <a:tr h="727601">
                <a:tc>
                  <a:txBody>
                    <a:bodyPr/>
                    <a:lstStyle/>
                    <a:p>
                      <a:pPr algn="l"/>
                      <a:r>
                        <a:rPr sz="2000" b="1">
                          <a:solidFill>
                            <a:srgbClr val="1A1A1A"/>
                          </a:solidFill>
                          <a:latin typeface="Aptos Narrow"/>
                        </a:rPr>
                        <a:t>Evaluation</a:t>
                      </a:r>
                    </a:p>
                  </a:txBody>
                  <a:tcPr marL="54864" marT="54864" marB="54864">
                    <a:solidFill>
                      <a:srgbClr val="F0F4FF"/>
                    </a:solidFill>
                  </a:tcPr>
                </a:tc>
                <a:tc>
                  <a:txBody>
                    <a:bodyPr/>
                    <a:lstStyle/>
                    <a:p>
                      <a:pPr algn="l"/>
                      <a:r>
                        <a:rPr sz="2000" b="0">
                          <a:solidFill>
                            <a:srgbClr val="1A1A1A"/>
                          </a:solidFill>
                          <a:latin typeface="Aptos Narrow"/>
                        </a:rPr>
                        <a:t>'Looks good to me'</a:t>
                      </a:r>
                    </a:p>
                  </a:txBody>
                  <a:tcPr marL="54864" marT="54864" marB="54864">
                    <a:solidFill>
                      <a:srgbClr val="F0F4FF"/>
                    </a:solidFill>
                  </a:tcPr>
                </a:tc>
                <a:tc>
                  <a:txBody>
                    <a:bodyPr/>
                    <a:lstStyle/>
                    <a:p>
                      <a:pPr algn="l"/>
                      <a:r>
                        <a:rPr sz="2000" b="0">
                          <a:solidFill>
                            <a:srgbClr val="1A1A1A"/>
                          </a:solidFill>
                          <a:latin typeface="Aptos Narrow"/>
                        </a:rPr>
                        <a:t>RAGAs scores: faithfulness / precision / recall</a:t>
                      </a:r>
                    </a:p>
                  </a:txBody>
                  <a:tcPr marL="54864" marT="54864" marB="54864">
                    <a:solidFill>
                      <a:srgbClr val="F0F4FF"/>
                    </a:solidFill>
                  </a:tcPr>
                </a:tc>
                <a:extLst>
                  <a:ext uri="{0D108BD9-81ED-4DB2-BD59-A6C34878D82A}">
                    <a16:rowId xmlns:a16="http://schemas.microsoft.com/office/drawing/2014/main" val="10005"/>
                  </a:ext>
                </a:extLst>
              </a:tr>
              <a:tr h="727602">
                <a:tc>
                  <a:txBody>
                    <a:bodyPr/>
                    <a:lstStyle/>
                    <a:p>
                      <a:pPr algn="l"/>
                      <a:r>
                        <a:rPr sz="2000" b="1">
                          <a:solidFill>
                            <a:srgbClr val="1A1A1A"/>
                          </a:solidFill>
                          <a:latin typeface="Aptos Narrow"/>
                        </a:rPr>
                        <a:t>Observability</a:t>
                      </a:r>
                    </a:p>
                  </a:txBody>
                  <a:tcPr marL="54864" marT="54864" marB="54864">
                    <a:solidFill>
                      <a:srgbClr val="FFFFFF"/>
                    </a:solidFill>
                  </a:tcPr>
                </a:tc>
                <a:tc>
                  <a:txBody>
                    <a:bodyPr/>
                    <a:lstStyle/>
                    <a:p>
                      <a:pPr algn="l"/>
                      <a:r>
                        <a:rPr sz="2000" b="0">
                          <a:solidFill>
                            <a:srgbClr val="1A1A1A"/>
                          </a:solidFill>
                          <a:latin typeface="Aptos Narrow"/>
                        </a:rPr>
                        <a:t>print() statements</a:t>
                      </a:r>
                    </a:p>
                  </a:txBody>
                  <a:tcPr marL="54864" marT="54864" marB="54864">
                    <a:solidFill>
                      <a:srgbClr val="FFFFFF"/>
                    </a:solidFill>
                  </a:tcPr>
                </a:tc>
                <a:tc>
                  <a:txBody>
                    <a:bodyPr/>
                    <a:lstStyle/>
                    <a:p>
                      <a:pPr algn="l"/>
                      <a:r>
                        <a:rPr sz="2000" b="0" dirty="0" err="1">
                          <a:solidFill>
                            <a:srgbClr val="1A1A1A"/>
                          </a:solidFill>
                          <a:latin typeface="Aptos Narrow"/>
                        </a:rPr>
                        <a:t>LangSmith</a:t>
                      </a:r>
                      <a:r>
                        <a:rPr sz="2000" b="0" dirty="0">
                          <a:solidFill>
                            <a:srgbClr val="1A1A1A"/>
                          </a:solidFill>
                          <a:latin typeface="Aptos Narrow"/>
                        </a:rPr>
                        <a:t> — full prompt trace per query</a:t>
                      </a:r>
                    </a:p>
                  </a:txBody>
                  <a:tcPr marL="54864" marT="54864" marB="54864">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57200" y="6355080"/>
            <a:ext cx="11274552" cy="438912"/>
          </a:xfrm>
          <a:prstGeom prst="rect">
            <a:avLst/>
          </a:prstGeom>
          <a:noFill/>
        </p:spPr>
        <p:txBody>
          <a:bodyPr wrap="square">
            <a:spAutoFit/>
          </a:bodyPr>
          <a:lstStyle/>
          <a:p>
            <a:pPr algn="l">
              <a:spcBef>
                <a:spcPts val="0"/>
              </a:spcBef>
            </a:pPr>
            <a:r>
              <a:rPr sz="1300" b="1">
                <a:solidFill>
                  <a:srgbClr val="454545"/>
                </a:solidFill>
                <a:latin typeface="Aptos Narrow"/>
              </a:rPr>
              <a:t>Every gap above is a real production incident waiting to happen.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3CC"/>
        </a:solidFill>
        <a:effectLst/>
      </p:bgPr>
    </p:bg>
    <p:spTree>
      <p:nvGrpSpPr>
        <p:cNvPr id="1" name=""/>
        <p:cNvGrpSpPr/>
        <p:nvPr/>
      </p:nvGrpSpPr>
      <p:grpSpPr>
        <a:xfrm>
          <a:off x="0" y="0"/>
          <a:ext cx="0" cy="0"/>
          <a:chOff x="0" y="0"/>
          <a:chExt cx="0" cy="0"/>
        </a:xfrm>
      </p:grpSpPr>
      <p:sp>
        <p:nvSpPr>
          <p:cNvPr id="2" name="Rectangle 1"/>
          <p:cNvSpPr/>
          <p:nvPr/>
        </p:nvSpPr>
        <p:spPr>
          <a:xfrm>
            <a:off x="457200" y="137160"/>
            <a:ext cx="2926080" cy="548640"/>
          </a:xfrm>
          <a:prstGeom prst="rect">
            <a:avLst/>
          </a:prstGeom>
          <a:solidFill>
            <a:srgbClr val="CC7200"/>
          </a:solidFill>
          <a:ln w="9525">
            <a:solidFill>
              <a:srgbClr val="CC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64592"/>
            <a:ext cx="2697480" cy="493776"/>
          </a:xfrm>
          <a:prstGeom prst="rect">
            <a:avLst/>
          </a:prstGeom>
          <a:noFill/>
        </p:spPr>
        <p:txBody>
          <a:bodyPr wrap="square">
            <a:spAutoFit/>
          </a:bodyPr>
          <a:lstStyle/>
          <a:p>
            <a:pPr algn="l">
              <a:spcBef>
                <a:spcPts val="0"/>
              </a:spcBef>
            </a:pPr>
            <a:r>
              <a:rPr sz="1400" b="1">
                <a:solidFill>
                  <a:srgbClr val="FFFFFF"/>
                </a:solidFill>
                <a:latin typeface="Aptos Narrow"/>
              </a:rPr>
              <a:t>⚡  ACTIVITY 1  ·  15 min</a:t>
            </a:r>
          </a:p>
        </p:txBody>
      </p:sp>
      <p:sp>
        <p:nvSpPr>
          <p:cNvPr id="4" name="TextBox 3"/>
          <p:cNvSpPr txBox="1"/>
          <p:nvPr/>
        </p:nvSpPr>
        <p:spPr>
          <a:xfrm>
            <a:off x="457200" y="786384"/>
            <a:ext cx="11274552" cy="658368"/>
          </a:xfrm>
          <a:prstGeom prst="rect">
            <a:avLst/>
          </a:prstGeom>
          <a:noFill/>
        </p:spPr>
        <p:txBody>
          <a:bodyPr wrap="square">
            <a:spAutoFit/>
          </a:bodyPr>
          <a:lstStyle/>
          <a:p>
            <a:pPr algn="l">
              <a:spcBef>
                <a:spcPts val="0"/>
              </a:spcBef>
            </a:pPr>
            <a:r>
              <a:rPr sz="2800" b="1">
                <a:solidFill>
                  <a:srgbClr val="CC7200"/>
                </a:solidFill>
                <a:latin typeface="Aptos Narrow"/>
              </a:rPr>
              <a:t>Tune the Chunk Size — Feel the Difference</a:t>
            </a:r>
          </a:p>
        </p:txBody>
      </p:sp>
      <p:sp>
        <p:nvSpPr>
          <p:cNvPr id="5" name="Rectangle 4"/>
          <p:cNvSpPr/>
          <p:nvPr/>
        </p:nvSpPr>
        <p:spPr>
          <a:xfrm>
            <a:off x="457200" y="1463040"/>
            <a:ext cx="11274552" cy="34747"/>
          </a:xfrm>
          <a:prstGeom prst="rect">
            <a:avLst/>
          </a:prstGeom>
          <a:solidFill>
            <a:srgbClr val="CC7200"/>
          </a:solidFill>
          <a:ln w="9525">
            <a:solidFill>
              <a:srgbClr val="CC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43431"/>
            <a:ext cx="11274552" cy="5311711"/>
          </a:xfrm>
          <a:prstGeom prst="rect">
            <a:avLst/>
          </a:prstGeom>
          <a:noFill/>
        </p:spPr>
        <p:txBody>
          <a:bodyPr wrap="square">
            <a:spAutoFit/>
          </a:bodyPr>
          <a:lstStyle/>
          <a:p>
            <a:pPr algn="l">
              <a:spcBef>
                <a:spcPts val="0"/>
              </a:spcBef>
            </a:pPr>
            <a:r>
              <a:rPr sz="2400" b="1" dirty="0">
                <a:solidFill>
                  <a:srgbClr val="1C395E"/>
                </a:solidFill>
                <a:latin typeface="Aptos Narrow"/>
              </a:rPr>
              <a:t>Open  rag/indexer.py  line 21. Change </a:t>
            </a:r>
            <a:r>
              <a:rPr sz="2400" b="1" dirty="0" err="1">
                <a:solidFill>
                  <a:srgbClr val="1C395E"/>
                </a:solidFill>
                <a:latin typeface="Aptos Narrow"/>
              </a:rPr>
              <a:t>chunk_size</a:t>
            </a:r>
            <a:r>
              <a:rPr sz="2400" b="1" dirty="0">
                <a:solidFill>
                  <a:srgbClr val="1C395E"/>
                </a:solidFill>
                <a:latin typeface="Aptos Narrow"/>
              </a:rPr>
              <a:t> from 1000 to 300:</a:t>
            </a:r>
          </a:p>
          <a:p>
            <a:pPr algn="l">
              <a:spcBef>
                <a:spcPts val="90"/>
              </a:spcBef>
            </a:pPr>
            <a:r>
              <a:rPr b="0" dirty="0">
                <a:solidFill>
                  <a:srgbClr val="1A1A1A"/>
                </a:solidFill>
                <a:latin typeface="Aptos Narrow"/>
              </a:rPr>
              <a:t>    splitter = </a:t>
            </a:r>
            <a:r>
              <a:rPr b="0" dirty="0" err="1">
                <a:solidFill>
                  <a:srgbClr val="1A1A1A"/>
                </a:solidFill>
                <a:latin typeface="Aptos Narrow"/>
              </a:rPr>
              <a:t>RecursiveCharacterTextSplitter</a:t>
            </a:r>
            <a:r>
              <a:rPr b="0" dirty="0">
                <a:solidFill>
                  <a:srgbClr val="1A1A1A"/>
                </a:solidFill>
                <a:latin typeface="Aptos Narrow"/>
              </a:rPr>
              <a:t>(</a:t>
            </a:r>
          </a:p>
          <a:p>
            <a:pPr algn="l">
              <a:spcBef>
                <a:spcPts val="90"/>
              </a:spcBef>
            </a:pPr>
            <a:r>
              <a:rPr b="0" dirty="0">
                <a:solidFill>
                  <a:srgbClr val="1A1A1A"/>
                </a:solidFill>
                <a:latin typeface="Aptos Narrow"/>
              </a:rPr>
              <a:t>        </a:t>
            </a:r>
            <a:r>
              <a:rPr b="0" dirty="0" err="1">
                <a:solidFill>
                  <a:srgbClr val="1A1A1A"/>
                </a:solidFill>
                <a:latin typeface="Aptos Narrow"/>
              </a:rPr>
              <a:t>chunk_size</a:t>
            </a:r>
            <a:r>
              <a:rPr b="0" dirty="0">
                <a:solidFill>
                  <a:srgbClr val="1A1A1A"/>
                </a:solidFill>
                <a:latin typeface="Aptos Narrow"/>
              </a:rPr>
              <a:t>=300,</a:t>
            </a:r>
          </a:p>
          <a:p>
            <a:pPr algn="l">
              <a:spcBef>
                <a:spcPts val="90"/>
              </a:spcBef>
            </a:pPr>
            <a:r>
              <a:rPr b="0" dirty="0">
                <a:solidFill>
                  <a:srgbClr val="1A1A1A"/>
                </a:solidFill>
                <a:latin typeface="Aptos Narrow"/>
              </a:rPr>
              <a:t>        </a:t>
            </a:r>
            <a:r>
              <a:rPr b="0" dirty="0" err="1">
                <a:solidFill>
                  <a:srgbClr val="1A1A1A"/>
                </a:solidFill>
                <a:latin typeface="Aptos Narrow"/>
              </a:rPr>
              <a:t>chunk_overlap</a:t>
            </a:r>
            <a:r>
              <a:rPr b="0" dirty="0">
                <a:solidFill>
                  <a:srgbClr val="1A1A1A"/>
                </a:solidFill>
                <a:latin typeface="Aptos Narrow"/>
              </a:rPr>
              <a:t>=50,</a:t>
            </a:r>
          </a:p>
          <a:p>
            <a:pPr algn="l">
              <a:spcBef>
                <a:spcPts val="90"/>
              </a:spcBef>
            </a:pPr>
            <a:r>
              <a:rPr b="0" dirty="0">
                <a:solidFill>
                  <a:srgbClr val="1A1A1A"/>
                </a:solidFill>
                <a:latin typeface="Aptos Narrow"/>
              </a:rPr>
              <a:t>    )</a:t>
            </a:r>
          </a:p>
          <a:p>
            <a:pPr algn="l">
              <a:spcBef>
                <a:spcPts val="40"/>
              </a:spcBef>
            </a:pPr>
            <a:endParaRPr b="0" dirty="0">
              <a:solidFill>
                <a:srgbClr val="1A1A1A"/>
              </a:solidFill>
              <a:latin typeface="Aptos Narrow"/>
            </a:endParaRPr>
          </a:p>
          <a:p>
            <a:pPr algn="l">
              <a:spcBef>
                <a:spcPts val="90"/>
              </a:spcBef>
            </a:pPr>
            <a:r>
              <a:rPr sz="2400" b="1" dirty="0">
                <a:solidFill>
                  <a:srgbClr val="1C395E"/>
                </a:solidFill>
                <a:latin typeface="Aptos Narrow"/>
              </a:rPr>
              <a:t>Steps:</a:t>
            </a:r>
          </a:p>
          <a:p>
            <a:pPr algn="l">
              <a:spcBef>
                <a:spcPts val="90"/>
              </a:spcBef>
            </a:pPr>
            <a:r>
              <a:rPr sz="2400" b="0" dirty="0">
                <a:solidFill>
                  <a:srgbClr val="1A1A1A"/>
                </a:solidFill>
                <a:latin typeface="Aptos Narrow"/>
              </a:rPr>
              <a:t>  •  Save → app: Replace index with HR PDF → check sidebar chunk count</a:t>
            </a:r>
          </a:p>
          <a:p>
            <a:pPr algn="l">
              <a:spcBef>
                <a:spcPts val="90"/>
              </a:spcBef>
            </a:pPr>
            <a:r>
              <a:rPr sz="2400" b="0" dirty="0">
                <a:solidFill>
                  <a:srgbClr val="1A1A1A"/>
                </a:solidFill>
                <a:latin typeface="Aptos Narrow"/>
              </a:rPr>
              <a:t>  •  Ask: 'What is the maternity leave policy?' — compare answer quality to before</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What to observe:</a:t>
            </a:r>
          </a:p>
          <a:p>
            <a:pPr algn="l">
              <a:spcBef>
                <a:spcPts val="90"/>
              </a:spcBef>
            </a:pPr>
            <a:r>
              <a:rPr sz="2400" b="0" dirty="0">
                <a:solidFill>
                  <a:srgbClr val="1A1A1A"/>
                </a:solidFill>
                <a:latin typeface="Aptos Narrow"/>
              </a:rPr>
              <a:t>  •  More chunks = finer granularity BUT a 300-char chunk may lack enough context to answer</a:t>
            </a:r>
          </a:p>
          <a:p>
            <a:pPr algn="l">
              <a:spcBef>
                <a:spcPts val="90"/>
              </a:spcBef>
            </a:pPr>
            <a:r>
              <a:rPr sz="2400" b="0" dirty="0">
                <a:solidFill>
                  <a:srgbClr val="1A1A1A"/>
                </a:solidFill>
                <a:latin typeface="Aptos Narrow"/>
              </a:rPr>
              <a:t>  •  Chunk size is a hyper-parameter. Tune it for your specific document structure.</a:t>
            </a:r>
          </a:p>
          <a:p>
            <a:pPr algn="l">
              <a:spcBef>
                <a:spcPts val="40"/>
              </a:spcBef>
            </a:pPr>
            <a:endParaRPr sz="2400" b="0" dirty="0">
              <a:solidFill>
                <a:srgbClr val="1A1A1A"/>
              </a:solidFill>
              <a:latin typeface="Aptos Narrow"/>
            </a:endParaRPr>
          </a:p>
          <a:p>
            <a:pPr algn="l">
              <a:spcBef>
                <a:spcPts val="90"/>
              </a:spcBef>
            </a:pPr>
            <a:r>
              <a:rPr sz="2400" b="0" dirty="0">
                <a:solidFill>
                  <a:srgbClr val="1A1A1A"/>
                </a:solidFill>
                <a:latin typeface="Aptos Narrow"/>
              </a:rPr>
              <a:t>  •  Bonus: change k=4 to k=8 in rag/retriever.py — does the answer improve or get noisier?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3CC"/>
        </a:solidFill>
        <a:effectLst/>
      </p:bgPr>
    </p:bg>
    <p:spTree>
      <p:nvGrpSpPr>
        <p:cNvPr id="1" name=""/>
        <p:cNvGrpSpPr/>
        <p:nvPr/>
      </p:nvGrpSpPr>
      <p:grpSpPr>
        <a:xfrm>
          <a:off x="0" y="0"/>
          <a:ext cx="0" cy="0"/>
          <a:chOff x="0" y="0"/>
          <a:chExt cx="0" cy="0"/>
        </a:xfrm>
      </p:grpSpPr>
      <p:sp>
        <p:nvSpPr>
          <p:cNvPr id="2" name="Rectangle 1"/>
          <p:cNvSpPr/>
          <p:nvPr/>
        </p:nvSpPr>
        <p:spPr>
          <a:xfrm>
            <a:off x="457200" y="137160"/>
            <a:ext cx="2926080" cy="548640"/>
          </a:xfrm>
          <a:prstGeom prst="rect">
            <a:avLst/>
          </a:prstGeom>
          <a:solidFill>
            <a:srgbClr val="CC7200"/>
          </a:solidFill>
          <a:ln w="9525">
            <a:solidFill>
              <a:srgbClr val="CC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64592"/>
            <a:ext cx="2697480" cy="493776"/>
          </a:xfrm>
          <a:prstGeom prst="rect">
            <a:avLst/>
          </a:prstGeom>
          <a:noFill/>
        </p:spPr>
        <p:txBody>
          <a:bodyPr wrap="square">
            <a:spAutoFit/>
          </a:bodyPr>
          <a:lstStyle/>
          <a:p>
            <a:pPr algn="l">
              <a:spcBef>
                <a:spcPts val="0"/>
              </a:spcBef>
            </a:pPr>
            <a:r>
              <a:rPr sz="1400" b="1">
                <a:solidFill>
                  <a:srgbClr val="FFFFFF"/>
                </a:solidFill>
                <a:latin typeface="Aptos Narrow"/>
              </a:rPr>
              <a:t>⚡  ACTIVITY 2  ·  20 min</a:t>
            </a:r>
          </a:p>
        </p:txBody>
      </p:sp>
      <p:sp>
        <p:nvSpPr>
          <p:cNvPr id="4" name="TextBox 3"/>
          <p:cNvSpPr txBox="1"/>
          <p:nvPr/>
        </p:nvSpPr>
        <p:spPr>
          <a:xfrm>
            <a:off x="457200" y="786384"/>
            <a:ext cx="11274552" cy="658368"/>
          </a:xfrm>
          <a:prstGeom prst="rect">
            <a:avLst/>
          </a:prstGeom>
          <a:noFill/>
        </p:spPr>
        <p:txBody>
          <a:bodyPr wrap="square">
            <a:spAutoFit/>
          </a:bodyPr>
          <a:lstStyle/>
          <a:p>
            <a:pPr algn="l">
              <a:spcBef>
                <a:spcPts val="0"/>
              </a:spcBef>
            </a:pPr>
            <a:r>
              <a:rPr sz="2800" b="1">
                <a:solidFill>
                  <a:srgbClr val="CC7200"/>
                </a:solidFill>
                <a:latin typeface="Aptos Narrow"/>
              </a:rPr>
              <a:t>Mission — SIGMA-BRAIN Phase 2</a:t>
            </a:r>
          </a:p>
        </p:txBody>
      </p:sp>
      <p:sp>
        <p:nvSpPr>
          <p:cNvPr id="5" name="Rectangle 4"/>
          <p:cNvSpPr/>
          <p:nvPr/>
        </p:nvSpPr>
        <p:spPr>
          <a:xfrm>
            <a:off x="457200" y="1463040"/>
            <a:ext cx="11274552" cy="34747"/>
          </a:xfrm>
          <a:prstGeom prst="rect">
            <a:avLst/>
          </a:prstGeom>
          <a:solidFill>
            <a:srgbClr val="CC7200"/>
          </a:solidFill>
          <a:ln w="9525">
            <a:solidFill>
              <a:srgbClr val="CC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91056"/>
            <a:ext cx="11274552" cy="5021888"/>
          </a:xfrm>
          <a:prstGeom prst="rect">
            <a:avLst/>
          </a:prstGeom>
          <a:noFill/>
        </p:spPr>
        <p:txBody>
          <a:bodyPr wrap="square">
            <a:spAutoFit/>
          </a:bodyPr>
          <a:lstStyle/>
          <a:p>
            <a:pPr algn="l">
              <a:spcBef>
                <a:spcPts val="0"/>
              </a:spcBef>
            </a:pPr>
            <a:r>
              <a:rPr sz="2400" b="1">
                <a:solidFill>
                  <a:srgbClr val="1C395E"/>
                </a:solidFill>
                <a:latin typeface="Aptos Narrow"/>
              </a:rPr>
              <a:t>The brief from the Sigma </a:t>
            </a:r>
            <a:r>
              <a:rPr sz="2400" b="1" dirty="0" err="1">
                <a:solidFill>
                  <a:srgbClr val="1C395E"/>
                </a:solidFill>
                <a:latin typeface="Aptos Narrow"/>
              </a:rPr>
              <a:t>DataTech</a:t>
            </a:r>
            <a:r>
              <a:rPr sz="2400" b="1" dirty="0">
                <a:solidFill>
                  <a:srgbClr val="1C395E"/>
                </a:solidFill>
                <a:latin typeface="Aptos Narrow"/>
              </a:rPr>
              <a:t> CTO:</a:t>
            </a:r>
          </a:p>
          <a:p>
            <a:pPr algn="l">
              <a:spcBef>
                <a:spcPts val="90"/>
              </a:spcBef>
            </a:pPr>
            <a:r>
              <a:rPr sz="2400" b="0" dirty="0">
                <a:solidFill>
                  <a:srgbClr val="1A1A1A"/>
                </a:solidFill>
                <a:latin typeface="Aptos Narrow"/>
              </a:rPr>
              <a:t>  •  Engineering team has scattered docs across laptops. Expand SIGMA-BRAIN beyond HR.</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Task:</a:t>
            </a:r>
          </a:p>
          <a:p>
            <a:pPr algn="l">
              <a:spcBef>
                <a:spcPts val="90"/>
              </a:spcBef>
            </a:pPr>
            <a:r>
              <a:rPr sz="2400" b="0" dirty="0">
                <a:solidFill>
                  <a:srgbClr val="1A1A1A"/>
                </a:solidFill>
                <a:latin typeface="Aptos Narrow"/>
              </a:rPr>
              <a:t>  •  Find any technical PDF on your laptop — project report, textbook chapter, any doc</a:t>
            </a:r>
          </a:p>
          <a:p>
            <a:pPr algn="l">
              <a:spcBef>
                <a:spcPts val="90"/>
              </a:spcBef>
            </a:pPr>
            <a:r>
              <a:rPr sz="2400" b="0" dirty="0">
                <a:solidFill>
                  <a:srgbClr val="1A1A1A"/>
                </a:solidFill>
                <a:latin typeface="Aptos Narrow"/>
              </a:rPr>
              <a:t>  •  Upload → Add to index  (keep HR policy too — multi-document retrieval)</a:t>
            </a:r>
          </a:p>
          <a:p>
            <a:pPr algn="l">
              <a:spcBef>
                <a:spcPts val="90"/>
              </a:spcBef>
            </a:pPr>
            <a:r>
              <a:rPr sz="2400" b="0" dirty="0">
                <a:solidFill>
                  <a:srgbClr val="1A1A1A"/>
                </a:solidFill>
                <a:latin typeface="Aptos Narrow"/>
              </a:rPr>
              <a:t>  •  Ask 3 questions a new engineer joining that project would ask</a:t>
            </a:r>
          </a:p>
          <a:p>
            <a:pPr algn="l">
              <a:spcBef>
                <a:spcPts val="90"/>
              </a:spcBef>
            </a:pPr>
            <a:r>
              <a:rPr sz="2400" b="0" dirty="0">
                <a:solidFill>
                  <a:srgbClr val="1A1A1A"/>
                </a:solidFill>
                <a:latin typeface="Aptos Narrow"/>
              </a:rPr>
              <a:t>  •  Ask 1 question that should draw from BOTH documents</a:t>
            </a:r>
          </a:p>
          <a:p>
            <a:pPr algn="l">
              <a:spcBef>
                <a:spcPts val="40"/>
              </a:spcBef>
            </a:pPr>
            <a:endParaRPr sz="2400" b="0" dirty="0">
              <a:solidFill>
                <a:srgbClr val="1A1A1A"/>
              </a:solidFill>
              <a:latin typeface="Aptos Narrow"/>
            </a:endParaRPr>
          </a:p>
          <a:p>
            <a:pPr algn="l">
              <a:spcBef>
                <a:spcPts val="90"/>
              </a:spcBef>
            </a:pPr>
            <a:r>
              <a:rPr sz="2400" b="1" dirty="0">
                <a:solidFill>
                  <a:srgbClr val="1C395E"/>
                </a:solidFill>
                <a:latin typeface="Aptos Narrow"/>
              </a:rPr>
              <a:t>What to look for:</a:t>
            </a:r>
          </a:p>
          <a:p>
            <a:pPr algn="l">
              <a:spcBef>
                <a:spcPts val="90"/>
              </a:spcBef>
            </a:pPr>
            <a:r>
              <a:rPr sz="2400" b="0" dirty="0">
                <a:solidFill>
                  <a:srgbClr val="1A1A1A"/>
                </a:solidFill>
                <a:latin typeface="Aptos Narrow"/>
              </a:rPr>
              <a:t>  •  Answers with clean source citations vs answers that go off-script</a:t>
            </a:r>
          </a:p>
          <a:p>
            <a:pPr algn="l">
              <a:spcBef>
                <a:spcPts val="90"/>
              </a:spcBef>
            </a:pPr>
            <a:r>
              <a:rPr sz="2400" b="0" dirty="0">
                <a:solidFill>
                  <a:srgbClr val="1A1A1A"/>
                </a:solidFill>
                <a:latin typeface="Aptos Narrow"/>
              </a:rPr>
              <a:t>  •  Which questions fail even though the answer is clearly in your document?</a:t>
            </a:r>
          </a:p>
          <a:p>
            <a:pPr algn="l">
              <a:spcBef>
                <a:spcPts val="90"/>
              </a:spcBef>
            </a:pPr>
            <a:r>
              <a:rPr sz="2400" b="0" dirty="0">
                <a:solidFill>
                  <a:srgbClr val="1A1A1A"/>
                </a:solidFill>
                <a:latin typeface="Aptos Narrow"/>
              </a:rPr>
              <a:t>  •  What happens when you upload a PDF with diagrams or tables?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The Production Upgrade Path — Same Chain, Better Components</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491597127"/>
              </p:ext>
            </p:extLst>
          </p:nvPr>
        </p:nvGraphicFramePr>
        <p:xfrm>
          <a:off x="457200" y="1170432"/>
          <a:ext cx="11274551" cy="5506593"/>
        </p:xfrm>
        <a:graphic>
          <a:graphicData uri="http://schemas.openxmlformats.org/drawingml/2006/table">
            <a:tbl>
              <a:tblPr firstRow="1" bandRow="1">
                <a:tableStyleId>{5C22544A-7EE6-4342-B048-85BDC9FD1C3A}</a:tableStyleId>
              </a:tblPr>
              <a:tblGrid>
                <a:gridCol w="2933216">
                  <a:extLst>
                    <a:ext uri="{9D8B030D-6E8A-4147-A177-3AD203B41FA5}">
                      <a16:colId xmlns:a16="http://schemas.microsoft.com/office/drawing/2014/main" val="20000"/>
                    </a:ext>
                  </a:extLst>
                </a:gridCol>
                <a:gridCol w="4124836">
                  <a:extLst>
                    <a:ext uri="{9D8B030D-6E8A-4147-A177-3AD203B41FA5}">
                      <a16:colId xmlns:a16="http://schemas.microsoft.com/office/drawing/2014/main" val="20001"/>
                    </a:ext>
                  </a:extLst>
                </a:gridCol>
                <a:gridCol w="4216499">
                  <a:extLst>
                    <a:ext uri="{9D8B030D-6E8A-4147-A177-3AD203B41FA5}">
                      <a16:colId xmlns:a16="http://schemas.microsoft.com/office/drawing/2014/main" val="20002"/>
                    </a:ext>
                  </a:extLst>
                </a:gridCol>
              </a:tblGrid>
              <a:tr h="636651">
                <a:tc>
                  <a:txBody>
                    <a:bodyPr/>
                    <a:lstStyle/>
                    <a:p>
                      <a:pPr algn="l"/>
                      <a:r>
                        <a:rPr sz="2000" b="1">
                          <a:solidFill>
                            <a:srgbClr val="FFFFFF"/>
                          </a:solidFill>
                          <a:latin typeface="Aptos Narrow"/>
                        </a:rPr>
                        <a:t>Component</a:t>
                      </a:r>
                    </a:p>
                  </a:txBody>
                  <a:tcPr marL="64008" marT="64008" marB="64008">
                    <a:solidFill>
                      <a:srgbClr val="1C395E"/>
                    </a:solidFill>
                  </a:tcPr>
                </a:tc>
                <a:tc>
                  <a:txBody>
                    <a:bodyPr/>
                    <a:lstStyle/>
                    <a:p>
                      <a:pPr algn="l"/>
                      <a:r>
                        <a:rPr sz="2000" b="1">
                          <a:solidFill>
                            <a:srgbClr val="FFFFFF"/>
                          </a:solidFill>
                          <a:latin typeface="Aptos Narrow"/>
                        </a:rPr>
                        <a:t>Today — Sprint 1</a:t>
                      </a:r>
                    </a:p>
                  </a:txBody>
                  <a:tcPr marL="64008" marT="64008" marB="64008">
                    <a:solidFill>
                      <a:srgbClr val="1C395E"/>
                    </a:solidFill>
                  </a:tcPr>
                </a:tc>
                <a:tc>
                  <a:txBody>
                    <a:bodyPr/>
                    <a:lstStyle/>
                    <a:p>
                      <a:pPr algn="l"/>
                      <a:r>
                        <a:rPr sz="2000" b="1">
                          <a:solidFill>
                            <a:srgbClr val="FFFFFF"/>
                          </a:solidFill>
                          <a:latin typeface="Aptos Narrow"/>
                        </a:rPr>
                        <a:t>Sigma DataTech Production</a:t>
                      </a:r>
                    </a:p>
                  </a:txBody>
                  <a:tcPr marL="64008" marT="64008" marB="64008">
                    <a:solidFill>
                      <a:srgbClr val="1C395E"/>
                    </a:solidFill>
                  </a:tcPr>
                </a:tc>
                <a:extLst>
                  <a:ext uri="{0D108BD9-81ED-4DB2-BD59-A6C34878D82A}">
                    <a16:rowId xmlns:a16="http://schemas.microsoft.com/office/drawing/2014/main" val="10000"/>
                  </a:ext>
                </a:extLst>
              </a:tr>
              <a:tr h="636651">
                <a:tc>
                  <a:txBody>
                    <a:bodyPr/>
                    <a:lstStyle/>
                    <a:p>
                      <a:pPr algn="l"/>
                      <a:r>
                        <a:rPr sz="2000" b="1">
                          <a:solidFill>
                            <a:srgbClr val="1A1A1A"/>
                          </a:solidFill>
                          <a:latin typeface="Aptos Narrow"/>
                        </a:rPr>
                        <a:t>Documents</a:t>
                      </a:r>
                    </a:p>
                  </a:txBody>
                  <a:tcPr marL="54864" marT="54864" marB="54864">
                    <a:solidFill>
                      <a:srgbClr val="F0F4FF"/>
                    </a:solidFill>
                  </a:tcPr>
                </a:tc>
                <a:tc>
                  <a:txBody>
                    <a:bodyPr/>
                    <a:lstStyle/>
                    <a:p>
                      <a:pPr algn="l"/>
                      <a:r>
                        <a:rPr sz="2000" b="0">
                          <a:solidFill>
                            <a:srgbClr val="1A1A1A"/>
                          </a:solidFill>
                          <a:latin typeface="Aptos Narrow"/>
                        </a:rPr>
                        <a:t>1 PDF</a:t>
                      </a:r>
                    </a:p>
                  </a:txBody>
                  <a:tcPr marL="54864" marT="54864" marB="54864">
                    <a:solidFill>
                      <a:srgbClr val="F0F4FF"/>
                    </a:solidFill>
                  </a:tcPr>
                </a:tc>
                <a:tc>
                  <a:txBody>
                    <a:bodyPr/>
                    <a:lstStyle/>
                    <a:p>
                      <a:pPr algn="l"/>
                      <a:r>
                        <a:rPr sz="2000" b="0">
                          <a:solidFill>
                            <a:srgbClr val="1A1A1A"/>
                          </a:solidFill>
                          <a:latin typeface="Aptos Narrow"/>
                        </a:rPr>
                        <a:t>S3 bucket — 18,700 docs, Confluence-synced nightly</a:t>
                      </a:r>
                    </a:p>
                  </a:txBody>
                  <a:tcPr marL="54864" marT="54864" marB="54864">
                    <a:solidFill>
                      <a:srgbClr val="F0F4FF"/>
                    </a:solidFill>
                  </a:tcPr>
                </a:tc>
                <a:extLst>
                  <a:ext uri="{0D108BD9-81ED-4DB2-BD59-A6C34878D82A}">
                    <a16:rowId xmlns:a16="http://schemas.microsoft.com/office/drawing/2014/main" val="10001"/>
                  </a:ext>
                </a:extLst>
              </a:tr>
              <a:tr h="636651">
                <a:tc>
                  <a:txBody>
                    <a:bodyPr/>
                    <a:lstStyle/>
                    <a:p>
                      <a:pPr algn="l"/>
                      <a:r>
                        <a:rPr sz="2000" b="1">
                          <a:solidFill>
                            <a:srgbClr val="1A1A1A"/>
                          </a:solidFill>
                          <a:latin typeface="Aptos Narrow"/>
                        </a:rPr>
                        <a:t>Vector DB</a:t>
                      </a:r>
                    </a:p>
                  </a:txBody>
                  <a:tcPr marL="54864" marT="54864" marB="54864">
                    <a:solidFill>
                      <a:srgbClr val="FFFFFF"/>
                    </a:solidFill>
                  </a:tcPr>
                </a:tc>
                <a:tc>
                  <a:txBody>
                    <a:bodyPr/>
                    <a:lstStyle/>
                    <a:p>
                      <a:pPr algn="l"/>
                      <a:r>
                        <a:rPr sz="2000" b="0">
                          <a:solidFill>
                            <a:srgbClr val="1A1A1A"/>
                          </a:solidFill>
                          <a:latin typeface="Aptos Narrow"/>
                        </a:rPr>
                        <a:t>ChromaDB (local SQLite)</a:t>
                      </a:r>
                    </a:p>
                  </a:txBody>
                  <a:tcPr marL="54864" marT="54864" marB="54864">
                    <a:solidFill>
                      <a:srgbClr val="FFFFFF"/>
                    </a:solidFill>
                  </a:tcPr>
                </a:tc>
                <a:tc>
                  <a:txBody>
                    <a:bodyPr/>
                    <a:lstStyle/>
                    <a:p>
                      <a:pPr algn="l"/>
                      <a:r>
                        <a:rPr sz="2000" b="0" dirty="0">
                          <a:solidFill>
                            <a:srgbClr val="1A1A1A"/>
                          </a:solidFill>
                          <a:latin typeface="Aptos Narrow"/>
                        </a:rPr>
                        <a:t>Amazon OpenSearch Serverless  (managed, access control)</a:t>
                      </a:r>
                      <a:r>
                        <a:rPr lang="en-IN" sz="2000" b="0" dirty="0">
                          <a:solidFill>
                            <a:srgbClr val="1A1A1A"/>
                          </a:solidFill>
                          <a:latin typeface="Aptos Narrow"/>
                        </a:rPr>
                        <a:t> + FAISS</a:t>
                      </a:r>
                      <a:endParaRPr sz="2000" b="0" dirty="0">
                        <a:solidFill>
                          <a:srgbClr val="1A1A1A"/>
                        </a:solidFill>
                        <a:latin typeface="Aptos Narrow"/>
                      </a:endParaRPr>
                    </a:p>
                  </a:txBody>
                  <a:tcPr marL="54864" marT="54864" marB="54864">
                    <a:solidFill>
                      <a:srgbClr val="FFFFFF"/>
                    </a:solidFill>
                  </a:tcPr>
                </a:tc>
                <a:extLst>
                  <a:ext uri="{0D108BD9-81ED-4DB2-BD59-A6C34878D82A}">
                    <a16:rowId xmlns:a16="http://schemas.microsoft.com/office/drawing/2014/main" val="10002"/>
                  </a:ext>
                </a:extLst>
              </a:tr>
              <a:tr h="636651">
                <a:tc>
                  <a:txBody>
                    <a:bodyPr/>
                    <a:lstStyle/>
                    <a:p>
                      <a:pPr algn="l"/>
                      <a:r>
                        <a:rPr sz="2000" b="1">
                          <a:solidFill>
                            <a:srgbClr val="1A1A1A"/>
                          </a:solidFill>
                          <a:latin typeface="Aptos Narrow"/>
                        </a:rPr>
                        <a:t>LLM</a:t>
                      </a:r>
                    </a:p>
                  </a:txBody>
                  <a:tcPr marL="54864" marT="54864" marB="54864">
                    <a:solidFill>
                      <a:srgbClr val="F0F4FF"/>
                    </a:solidFill>
                  </a:tcPr>
                </a:tc>
                <a:tc>
                  <a:txBody>
                    <a:bodyPr/>
                    <a:lstStyle/>
                    <a:p>
                      <a:pPr algn="l"/>
                      <a:r>
                        <a:rPr sz="2000" b="0" dirty="0">
                          <a:solidFill>
                            <a:srgbClr val="1A1A1A"/>
                          </a:solidFill>
                          <a:latin typeface="Aptos Narrow"/>
                        </a:rPr>
                        <a:t>AWS Nova Lite</a:t>
                      </a:r>
                      <a:r>
                        <a:rPr lang="en-IN" sz="2000" b="0" dirty="0">
                          <a:solidFill>
                            <a:srgbClr val="1A1A1A"/>
                          </a:solidFill>
                          <a:latin typeface="Aptos Narrow"/>
                        </a:rPr>
                        <a:t> /</a:t>
                      </a:r>
                      <a:r>
                        <a:rPr lang="en-IN" sz="2000" b="0" dirty="0" err="1">
                          <a:solidFill>
                            <a:srgbClr val="1A1A1A"/>
                          </a:solidFill>
                          <a:latin typeface="Aptos Narrow"/>
                        </a:rPr>
                        <a:t>Ollama</a:t>
                      </a:r>
                      <a:r>
                        <a:rPr lang="en-IN" sz="2000" b="0" dirty="0">
                          <a:solidFill>
                            <a:srgbClr val="1A1A1A"/>
                          </a:solidFill>
                          <a:latin typeface="Aptos Narrow"/>
                        </a:rPr>
                        <a:t> Qwen</a:t>
                      </a:r>
                      <a:endParaRPr sz="2000" b="0" dirty="0">
                        <a:solidFill>
                          <a:srgbClr val="1A1A1A"/>
                        </a:solidFill>
                        <a:latin typeface="Aptos Narrow"/>
                      </a:endParaRPr>
                    </a:p>
                  </a:txBody>
                  <a:tcPr marL="54864" marT="54864" marB="54864">
                    <a:solidFill>
                      <a:srgbClr val="F0F4FF"/>
                    </a:solidFill>
                  </a:tcPr>
                </a:tc>
                <a:tc>
                  <a:txBody>
                    <a:bodyPr/>
                    <a:lstStyle/>
                    <a:p>
                      <a:pPr algn="l"/>
                      <a:r>
                        <a:rPr sz="2000" b="0">
                          <a:solidFill>
                            <a:srgbClr val="1A1A1A"/>
                          </a:solidFill>
                          <a:latin typeface="Aptos Narrow"/>
                        </a:rPr>
                        <a:t>Claude 3 Sonnet / Nova Pro</a:t>
                      </a:r>
                    </a:p>
                  </a:txBody>
                  <a:tcPr marL="54864" marT="54864" marB="54864">
                    <a:solidFill>
                      <a:srgbClr val="F0F4FF"/>
                    </a:solidFill>
                  </a:tcPr>
                </a:tc>
                <a:extLst>
                  <a:ext uri="{0D108BD9-81ED-4DB2-BD59-A6C34878D82A}">
                    <a16:rowId xmlns:a16="http://schemas.microsoft.com/office/drawing/2014/main" val="10003"/>
                  </a:ext>
                </a:extLst>
              </a:tr>
              <a:tr h="636651">
                <a:tc>
                  <a:txBody>
                    <a:bodyPr/>
                    <a:lstStyle/>
                    <a:p>
                      <a:pPr algn="l"/>
                      <a:r>
                        <a:rPr sz="2000" b="1">
                          <a:solidFill>
                            <a:srgbClr val="1A1A1A"/>
                          </a:solidFill>
                          <a:latin typeface="Aptos Narrow"/>
                        </a:rPr>
                        <a:t>Retrieval</a:t>
                      </a:r>
                    </a:p>
                  </a:txBody>
                  <a:tcPr marL="54864" marT="54864" marB="54864">
                    <a:solidFill>
                      <a:srgbClr val="FFFFFF"/>
                    </a:solidFill>
                  </a:tcPr>
                </a:tc>
                <a:tc>
                  <a:txBody>
                    <a:bodyPr/>
                    <a:lstStyle/>
                    <a:p>
                      <a:pPr algn="l"/>
                      <a:r>
                        <a:rPr sz="2000" b="0">
                          <a:solidFill>
                            <a:srgbClr val="1A1A1A"/>
                          </a:solidFill>
                          <a:latin typeface="Aptos Narrow"/>
                        </a:rPr>
                        <a:t>Cosine k=4</a:t>
                      </a:r>
                    </a:p>
                  </a:txBody>
                  <a:tcPr marL="54864" marT="54864" marB="54864">
                    <a:solidFill>
                      <a:srgbClr val="FFFFFF"/>
                    </a:solidFill>
                  </a:tcPr>
                </a:tc>
                <a:tc>
                  <a:txBody>
                    <a:bodyPr/>
                    <a:lstStyle/>
                    <a:p>
                      <a:pPr algn="l"/>
                      <a:r>
                        <a:rPr sz="2000" b="0">
                          <a:solidFill>
                            <a:srgbClr val="1A1A1A"/>
                          </a:solidFill>
                          <a:latin typeface="Aptos Narrow"/>
                        </a:rPr>
                        <a:t>Cosine k=20 → Cohere Rerank → top 4</a:t>
                      </a:r>
                    </a:p>
                  </a:txBody>
                  <a:tcPr marL="54864" marT="54864" marB="54864">
                    <a:solidFill>
                      <a:srgbClr val="FFFFFF"/>
                    </a:solidFill>
                  </a:tcPr>
                </a:tc>
                <a:extLst>
                  <a:ext uri="{0D108BD9-81ED-4DB2-BD59-A6C34878D82A}">
                    <a16:rowId xmlns:a16="http://schemas.microsoft.com/office/drawing/2014/main" val="10004"/>
                  </a:ext>
                </a:extLst>
              </a:tr>
              <a:tr h="636651">
                <a:tc>
                  <a:txBody>
                    <a:bodyPr/>
                    <a:lstStyle/>
                    <a:p>
                      <a:pPr algn="l"/>
                      <a:r>
                        <a:rPr sz="2000" b="1">
                          <a:solidFill>
                            <a:srgbClr val="1A1A1A"/>
                          </a:solidFill>
                          <a:latin typeface="Aptos Narrow"/>
                        </a:rPr>
                        <a:t>Evaluation</a:t>
                      </a:r>
                    </a:p>
                  </a:txBody>
                  <a:tcPr marL="54864" marT="54864" marB="54864">
                    <a:solidFill>
                      <a:srgbClr val="F0F4FF"/>
                    </a:solidFill>
                  </a:tcPr>
                </a:tc>
                <a:tc>
                  <a:txBody>
                    <a:bodyPr/>
                    <a:lstStyle/>
                    <a:p>
                      <a:pPr algn="l"/>
                      <a:r>
                        <a:rPr sz="2000" b="0">
                          <a:solidFill>
                            <a:srgbClr val="1A1A1A"/>
                          </a:solidFill>
                          <a:latin typeface="Aptos Narrow"/>
                        </a:rPr>
                        <a:t>None</a:t>
                      </a:r>
                    </a:p>
                  </a:txBody>
                  <a:tcPr marL="54864" marT="54864" marB="54864">
                    <a:solidFill>
                      <a:srgbClr val="F0F4FF"/>
                    </a:solidFill>
                  </a:tcPr>
                </a:tc>
                <a:tc>
                  <a:txBody>
                    <a:bodyPr/>
                    <a:lstStyle/>
                    <a:p>
                      <a:pPr algn="l"/>
                      <a:r>
                        <a:rPr sz="2000" b="0" dirty="0">
                          <a:solidFill>
                            <a:srgbClr val="1A1A1A"/>
                          </a:solidFill>
                          <a:latin typeface="Aptos Narrow"/>
                        </a:rPr>
                        <a:t>RAGs nightly — faithfulness / precision / recall</a:t>
                      </a:r>
                    </a:p>
                  </a:txBody>
                  <a:tcPr marL="54864" marT="54864" marB="54864">
                    <a:solidFill>
                      <a:srgbClr val="F0F4FF"/>
                    </a:solidFill>
                  </a:tcPr>
                </a:tc>
                <a:extLst>
                  <a:ext uri="{0D108BD9-81ED-4DB2-BD59-A6C34878D82A}">
                    <a16:rowId xmlns:a16="http://schemas.microsoft.com/office/drawing/2014/main" val="10005"/>
                  </a:ext>
                </a:extLst>
              </a:tr>
              <a:tr h="636651">
                <a:tc>
                  <a:txBody>
                    <a:bodyPr/>
                    <a:lstStyle/>
                    <a:p>
                      <a:pPr algn="l"/>
                      <a:r>
                        <a:rPr sz="2000" b="1">
                          <a:solidFill>
                            <a:srgbClr val="1A1A1A"/>
                          </a:solidFill>
                          <a:latin typeface="Aptos Narrow"/>
                        </a:rPr>
                        <a:t>Observability</a:t>
                      </a:r>
                    </a:p>
                  </a:txBody>
                  <a:tcPr marL="54864" marT="54864" marB="54864">
                    <a:solidFill>
                      <a:srgbClr val="FFFFFF"/>
                    </a:solidFill>
                  </a:tcPr>
                </a:tc>
                <a:tc>
                  <a:txBody>
                    <a:bodyPr/>
                    <a:lstStyle/>
                    <a:p>
                      <a:pPr algn="l"/>
                      <a:r>
                        <a:rPr sz="2000" b="0" dirty="0">
                          <a:solidFill>
                            <a:srgbClr val="1A1A1A"/>
                          </a:solidFill>
                          <a:latin typeface="Aptos Narrow"/>
                        </a:rPr>
                        <a:t>None</a:t>
                      </a:r>
                    </a:p>
                  </a:txBody>
                  <a:tcPr marL="54864" marT="54864" marB="54864">
                    <a:solidFill>
                      <a:srgbClr val="FFFFFF"/>
                    </a:solidFill>
                  </a:tcPr>
                </a:tc>
                <a:tc>
                  <a:txBody>
                    <a:bodyPr/>
                    <a:lstStyle/>
                    <a:p>
                      <a:pPr algn="l"/>
                      <a:r>
                        <a:rPr sz="2000" b="0">
                          <a:solidFill>
                            <a:srgbClr val="1A1A1A"/>
                          </a:solidFill>
                          <a:latin typeface="Aptos Narrow"/>
                        </a:rPr>
                        <a:t>LangSmith — every query traced with full prompt tree</a:t>
                      </a:r>
                    </a:p>
                  </a:txBody>
                  <a:tcPr marL="54864" marT="54864" marB="54864">
                    <a:solidFill>
                      <a:srgbClr val="FFFFFF"/>
                    </a:solidFill>
                  </a:tcPr>
                </a:tc>
                <a:extLst>
                  <a:ext uri="{0D108BD9-81ED-4DB2-BD59-A6C34878D82A}">
                    <a16:rowId xmlns:a16="http://schemas.microsoft.com/office/drawing/2014/main" val="10006"/>
                  </a:ext>
                </a:extLst>
              </a:tr>
              <a:tr h="636651">
                <a:tc>
                  <a:txBody>
                    <a:bodyPr/>
                    <a:lstStyle/>
                    <a:p>
                      <a:pPr algn="l"/>
                      <a:r>
                        <a:rPr sz="2000" b="1">
                          <a:solidFill>
                            <a:srgbClr val="1A1A1A"/>
                          </a:solidFill>
                          <a:latin typeface="Aptos Narrow"/>
                        </a:rPr>
                        <a:t>Access control</a:t>
                      </a:r>
                    </a:p>
                  </a:txBody>
                  <a:tcPr marL="54864" marT="54864" marB="54864">
                    <a:solidFill>
                      <a:srgbClr val="F0F4FF"/>
                    </a:solidFill>
                  </a:tcPr>
                </a:tc>
                <a:tc>
                  <a:txBody>
                    <a:bodyPr/>
                    <a:lstStyle/>
                    <a:p>
                      <a:pPr algn="l"/>
                      <a:r>
                        <a:rPr sz="2000" b="0">
                          <a:solidFill>
                            <a:srgbClr val="1A1A1A"/>
                          </a:solidFill>
                          <a:latin typeface="Aptos Narrow"/>
                        </a:rPr>
                        <a:t>None</a:t>
                      </a:r>
                    </a:p>
                  </a:txBody>
                  <a:tcPr marL="54864" marT="54864" marB="54864">
                    <a:solidFill>
                      <a:srgbClr val="F0F4FF"/>
                    </a:solidFill>
                  </a:tcPr>
                </a:tc>
                <a:tc>
                  <a:txBody>
                    <a:bodyPr/>
                    <a:lstStyle/>
                    <a:p>
                      <a:pPr algn="l"/>
                      <a:r>
                        <a:rPr sz="2000" b="0" dirty="0">
                          <a:solidFill>
                            <a:srgbClr val="1A1A1A"/>
                          </a:solidFill>
                          <a:latin typeface="Aptos Narrow"/>
                        </a:rPr>
                        <a:t>Metadata role filters — row-level security per document</a:t>
                      </a:r>
                    </a:p>
                  </a:txBody>
                  <a:tcPr marL="54864" marT="54864" marB="54864">
                    <a:solidFill>
                      <a:srgbClr val="F0F4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61950" y="6526530"/>
            <a:ext cx="11274552" cy="438912"/>
          </a:xfrm>
          <a:prstGeom prst="rect">
            <a:avLst/>
          </a:prstGeom>
          <a:noFill/>
        </p:spPr>
        <p:txBody>
          <a:bodyPr wrap="square">
            <a:spAutoFit/>
          </a:bodyPr>
          <a:lstStyle/>
          <a:p>
            <a:pPr algn="l">
              <a:spcBef>
                <a:spcPts val="0"/>
              </a:spcBef>
            </a:pPr>
            <a:r>
              <a:rPr sz="1300" b="1" dirty="0">
                <a:solidFill>
                  <a:srgbClr val="454545"/>
                </a:solidFill>
                <a:latin typeface="Aptos Narrow"/>
              </a:rPr>
              <a:t>The </a:t>
            </a:r>
            <a:r>
              <a:rPr sz="1300" b="1" dirty="0" err="1">
                <a:solidFill>
                  <a:srgbClr val="454545"/>
                </a:solidFill>
                <a:latin typeface="Aptos Narrow"/>
              </a:rPr>
              <a:t>LangChain</a:t>
            </a:r>
            <a:r>
              <a:rPr sz="1300" b="1" dirty="0">
                <a:solidFill>
                  <a:srgbClr val="454545"/>
                </a:solidFill>
                <a:latin typeface="Aptos Narrow"/>
              </a:rPr>
              <a:t> chain code does not change. Swap one component at a time. The abstraction is the value.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24D5-2043-158E-40BE-3AD472E289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DFCCF4-1A5A-48E4-4190-085F40B18FD8}"/>
              </a:ext>
            </a:extLst>
          </p:cNvPr>
          <p:cNvSpPr txBox="1"/>
          <p:nvPr/>
        </p:nvSpPr>
        <p:spPr>
          <a:xfrm>
            <a:off x="457200" y="91440"/>
            <a:ext cx="3429913" cy="553998"/>
          </a:xfrm>
          <a:prstGeom prst="rect">
            <a:avLst/>
          </a:prstGeom>
          <a:noFill/>
        </p:spPr>
        <p:txBody>
          <a:bodyPr wrap="none">
            <a:spAutoFit/>
          </a:bodyPr>
          <a:lstStyle/>
          <a:p>
            <a:pPr algn="l">
              <a:spcBef>
                <a:spcPts val="0"/>
              </a:spcBef>
            </a:pPr>
            <a:r>
              <a:rPr lang="en-IN" sz="3000" b="1" dirty="0" err="1">
                <a:solidFill>
                  <a:srgbClr val="1C395E"/>
                </a:solidFill>
                <a:latin typeface="Aptos Narrow"/>
              </a:rPr>
              <a:t>ChromaDB</a:t>
            </a:r>
            <a:r>
              <a:rPr lang="en-IN" sz="3000" b="1" dirty="0">
                <a:solidFill>
                  <a:srgbClr val="1C395E"/>
                </a:solidFill>
                <a:latin typeface="Aptos Narrow"/>
              </a:rPr>
              <a:t> v/s FAISS</a:t>
            </a:r>
            <a:endParaRPr sz="3000" b="1" dirty="0">
              <a:solidFill>
                <a:srgbClr val="1C395E"/>
              </a:solidFill>
              <a:latin typeface="Aptos Narrow"/>
            </a:endParaRPr>
          </a:p>
        </p:txBody>
      </p:sp>
      <p:sp>
        <p:nvSpPr>
          <p:cNvPr id="3" name="Rectangle 2">
            <a:extLst>
              <a:ext uri="{FF2B5EF4-FFF2-40B4-BE49-F238E27FC236}">
                <a16:creationId xmlns:a16="http://schemas.microsoft.com/office/drawing/2014/main" id="{7EC6ECEC-55CF-0A25-ECEC-3E34B29D02A5}"/>
              </a:ext>
            </a:extLst>
          </p:cNvPr>
          <p:cNvSpPr/>
          <p:nvPr/>
        </p:nvSpPr>
        <p:spPr>
          <a:xfrm>
            <a:off x="457200" y="711327"/>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A34DE38-B5F2-56E5-A3B7-1A1323161ABE}"/>
              </a:ext>
            </a:extLst>
          </p:cNvPr>
          <p:cNvSpPr txBox="1"/>
          <p:nvPr/>
        </p:nvSpPr>
        <p:spPr>
          <a:xfrm>
            <a:off x="655302" y="6474172"/>
            <a:ext cx="11274552" cy="292388"/>
          </a:xfrm>
          <a:prstGeom prst="rect">
            <a:avLst/>
          </a:prstGeom>
          <a:noFill/>
        </p:spPr>
        <p:txBody>
          <a:bodyPr wrap="square">
            <a:spAutoFit/>
          </a:bodyPr>
          <a:lstStyle/>
          <a:p>
            <a:r>
              <a:rPr lang="en-IN" sz="1300" b="1" dirty="0">
                <a:solidFill>
                  <a:srgbClr val="454545"/>
                </a:solidFill>
                <a:latin typeface="Aptos Narrow"/>
              </a:rPr>
              <a:t>FAISS – Facebook AI Similarity Search  - Enterprise setup - </a:t>
            </a:r>
            <a:r>
              <a:rPr lang="en-US" sz="1300" b="1" dirty="0">
                <a:solidFill>
                  <a:srgbClr val="454545"/>
                </a:solidFill>
                <a:latin typeface="Aptos Narrow"/>
              </a:rPr>
              <a:t>FAISS + Metadata DB + Storage Layer</a:t>
            </a:r>
            <a:endParaRPr sz="1300" b="1" dirty="0">
              <a:solidFill>
                <a:srgbClr val="454545"/>
              </a:solidFill>
              <a:latin typeface="Aptos Narrow"/>
            </a:endParaRPr>
          </a:p>
        </p:txBody>
      </p:sp>
      <p:graphicFrame>
        <p:nvGraphicFramePr>
          <p:cNvPr id="6" name="Table 5">
            <a:extLst>
              <a:ext uri="{FF2B5EF4-FFF2-40B4-BE49-F238E27FC236}">
                <a16:creationId xmlns:a16="http://schemas.microsoft.com/office/drawing/2014/main" id="{67AC1B10-1561-6739-FF5C-AC6463035371}"/>
              </a:ext>
            </a:extLst>
          </p:cNvPr>
          <p:cNvGraphicFramePr>
            <a:graphicFrameLocks noGrp="1"/>
          </p:cNvGraphicFramePr>
          <p:nvPr>
            <p:extLst>
              <p:ext uri="{D42A27DB-BD31-4B8C-83A1-F6EECF244321}">
                <p14:modId xmlns:p14="http://schemas.microsoft.com/office/powerpoint/2010/main" val="3481808961"/>
              </p:ext>
            </p:extLst>
          </p:nvPr>
        </p:nvGraphicFramePr>
        <p:xfrm>
          <a:off x="457200" y="951357"/>
          <a:ext cx="11274550" cy="5433550"/>
        </p:xfrm>
        <a:graphic>
          <a:graphicData uri="http://schemas.openxmlformats.org/drawingml/2006/table">
            <a:tbl>
              <a:tblPr>
                <a:tableStyleId>{616DA210-FB5B-4158-B5E0-FEB733F419BA}</a:tableStyleId>
              </a:tblPr>
              <a:tblGrid>
                <a:gridCol w="2933216">
                  <a:extLst>
                    <a:ext uri="{9D8B030D-6E8A-4147-A177-3AD203B41FA5}">
                      <a16:colId xmlns:a16="http://schemas.microsoft.com/office/drawing/2014/main" val="2872797734"/>
                    </a:ext>
                  </a:extLst>
                </a:gridCol>
                <a:gridCol w="4124835">
                  <a:extLst>
                    <a:ext uri="{9D8B030D-6E8A-4147-A177-3AD203B41FA5}">
                      <a16:colId xmlns:a16="http://schemas.microsoft.com/office/drawing/2014/main" val="1092462496"/>
                    </a:ext>
                  </a:extLst>
                </a:gridCol>
                <a:gridCol w="4216499">
                  <a:extLst>
                    <a:ext uri="{9D8B030D-6E8A-4147-A177-3AD203B41FA5}">
                      <a16:colId xmlns:a16="http://schemas.microsoft.com/office/drawing/2014/main" val="1225482685"/>
                    </a:ext>
                  </a:extLst>
                </a:gridCol>
              </a:tblGrid>
              <a:tr h="543355">
                <a:tc>
                  <a:txBody>
                    <a:bodyPr/>
                    <a:lstStyle/>
                    <a:p>
                      <a:pPr algn="l">
                        <a:buNone/>
                      </a:pPr>
                      <a:r>
                        <a:rPr lang="en-IN" sz="2000" b="1" i="0" u="none" dirty="0">
                          <a:solidFill>
                            <a:srgbClr val="FFFFFF"/>
                          </a:solidFill>
                          <a:latin typeface="Aptos Narrow"/>
                        </a:rPr>
                        <a:t>Feature</a:t>
                      </a:r>
                    </a:p>
                  </a:txBody>
                  <a:tcPr marL="87038" marR="87038" marT="43519" marB="43519">
                    <a:solidFill>
                      <a:srgbClr val="1C395E"/>
                    </a:solidFill>
                  </a:tcPr>
                </a:tc>
                <a:tc>
                  <a:txBody>
                    <a:bodyPr/>
                    <a:lstStyle/>
                    <a:p>
                      <a:pPr algn="l">
                        <a:buNone/>
                      </a:pPr>
                      <a:r>
                        <a:rPr lang="en-IN" sz="2000" b="1" i="0" u="none" dirty="0" err="1">
                          <a:solidFill>
                            <a:srgbClr val="FFFFFF"/>
                          </a:solidFill>
                          <a:latin typeface="Aptos Narrow"/>
                        </a:rPr>
                        <a:t>ChromaDB</a:t>
                      </a:r>
                      <a:endParaRPr lang="en-IN" sz="2000" b="1" i="0" u="none" dirty="0">
                        <a:solidFill>
                          <a:srgbClr val="FFFFFF"/>
                        </a:solidFill>
                        <a:latin typeface="Aptos Narrow"/>
                      </a:endParaRPr>
                    </a:p>
                  </a:txBody>
                  <a:tcPr marL="87038" marR="87038" marT="43519" marB="43519">
                    <a:solidFill>
                      <a:srgbClr val="1C395E"/>
                    </a:solidFill>
                  </a:tcPr>
                </a:tc>
                <a:tc>
                  <a:txBody>
                    <a:bodyPr/>
                    <a:lstStyle/>
                    <a:p>
                      <a:pPr algn="l">
                        <a:buNone/>
                      </a:pPr>
                      <a:r>
                        <a:rPr lang="en-IN" sz="2000" b="1" i="0" u="none" dirty="0">
                          <a:solidFill>
                            <a:srgbClr val="FFFFFF"/>
                          </a:solidFill>
                          <a:latin typeface="Aptos Narrow"/>
                        </a:rPr>
                        <a:t>FAISS</a:t>
                      </a:r>
                    </a:p>
                  </a:txBody>
                  <a:tcPr marL="87038" marR="87038" marT="43519" marB="43519">
                    <a:solidFill>
                      <a:srgbClr val="1C395E"/>
                    </a:solidFill>
                  </a:tcPr>
                </a:tc>
                <a:extLst>
                  <a:ext uri="{0D108BD9-81ED-4DB2-BD59-A6C34878D82A}">
                    <a16:rowId xmlns:a16="http://schemas.microsoft.com/office/drawing/2014/main" val="583799641"/>
                  </a:ext>
                </a:extLst>
              </a:tr>
              <a:tr h="543355">
                <a:tc>
                  <a:txBody>
                    <a:bodyPr/>
                    <a:lstStyle/>
                    <a:p>
                      <a:pPr algn="l">
                        <a:buNone/>
                      </a:pPr>
                      <a:r>
                        <a:rPr lang="en-IN" sz="2000" b="1" i="0" u="none" dirty="0">
                          <a:solidFill>
                            <a:srgbClr val="1A1A1A"/>
                          </a:solidFill>
                          <a:latin typeface="Aptos Narrow"/>
                        </a:rPr>
                        <a:t>Type</a:t>
                      </a:r>
                    </a:p>
                  </a:txBody>
                  <a:tcPr marL="87038" marR="87038" marT="43519" marB="43519">
                    <a:solidFill>
                      <a:srgbClr val="F0F4FF"/>
                    </a:solidFill>
                  </a:tcPr>
                </a:tc>
                <a:tc>
                  <a:txBody>
                    <a:bodyPr/>
                    <a:lstStyle/>
                    <a:p>
                      <a:pPr algn="l">
                        <a:buNone/>
                      </a:pPr>
                      <a:r>
                        <a:rPr lang="en-IN" sz="2000" b="0" i="0" u="none" dirty="0">
                          <a:solidFill>
                            <a:srgbClr val="1A1A1A"/>
                          </a:solidFill>
                          <a:latin typeface="Aptos Narrow"/>
                        </a:rPr>
                        <a:t>AI-native Vector Database (SSD)</a:t>
                      </a:r>
                    </a:p>
                  </a:txBody>
                  <a:tcPr marL="87038" marR="87038" marT="43519" marB="43519">
                    <a:solidFill>
                      <a:srgbClr val="F0F4FF"/>
                    </a:solidFill>
                  </a:tcPr>
                </a:tc>
                <a:tc>
                  <a:txBody>
                    <a:bodyPr/>
                    <a:lstStyle/>
                    <a:p>
                      <a:pPr algn="l">
                        <a:buNone/>
                      </a:pPr>
                      <a:r>
                        <a:rPr lang="en-IN" sz="2000" b="0" i="0" u="none" dirty="0">
                          <a:solidFill>
                            <a:srgbClr val="1A1A1A"/>
                          </a:solidFill>
                          <a:latin typeface="Aptos Narrow"/>
                        </a:rPr>
                        <a:t>Vector Search Engine/ Library (RAM)</a:t>
                      </a:r>
                    </a:p>
                  </a:txBody>
                  <a:tcPr marL="87038" marR="87038" marT="43519" marB="43519">
                    <a:solidFill>
                      <a:srgbClr val="F0F4FF"/>
                    </a:solidFill>
                  </a:tcPr>
                </a:tc>
                <a:extLst>
                  <a:ext uri="{0D108BD9-81ED-4DB2-BD59-A6C34878D82A}">
                    <a16:rowId xmlns:a16="http://schemas.microsoft.com/office/drawing/2014/main" val="3143376636"/>
                  </a:ext>
                </a:extLst>
              </a:tr>
              <a:tr h="543355">
                <a:tc>
                  <a:txBody>
                    <a:bodyPr/>
                    <a:lstStyle/>
                    <a:p>
                      <a:pPr algn="l">
                        <a:buNone/>
                      </a:pPr>
                      <a:r>
                        <a:rPr lang="en-IN" sz="2000" b="1" i="0" u="none" dirty="0">
                          <a:solidFill>
                            <a:srgbClr val="1A1A1A"/>
                          </a:solidFill>
                          <a:latin typeface="Aptos Narrow"/>
                        </a:rPr>
                        <a:t>Persistence</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Built-in storage</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Usually in-memory/manual persistence</a:t>
                      </a:r>
                    </a:p>
                  </a:txBody>
                  <a:tcPr marL="87038" marR="87038" marT="43519" marB="43519">
                    <a:solidFill>
                      <a:srgbClr val="FFFFFF"/>
                    </a:solidFill>
                  </a:tcPr>
                </a:tc>
                <a:extLst>
                  <a:ext uri="{0D108BD9-81ED-4DB2-BD59-A6C34878D82A}">
                    <a16:rowId xmlns:a16="http://schemas.microsoft.com/office/drawing/2014/main" val="4252091265"/>
                  </a:ext>
                </a:extLst>
              </a:tr>
              <a:tr h="543355">
                <a:tc>
                  <a:txBody>
                    <a:bodyPr/>
                    <a:lstStyle/>
                    <a:p>
                      <a:pPr algn="l">
                        <a:buNone/>
                      </a:pPr>
                      <a:r>
                        <a:rPr lang="en-IN" sz="2000" b="1" i="0" u="none" dirty="0">
                          <a:solidFill>
                            <a:srgbClr val="1A1A1A"/>
                          </a:solidFill>
                          <a:latin typeface="Aptos Narrow"/>
                        </a:rPr>
                        <a:t>Ease of Use</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Beginner friendly</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More low-level/technical</a:t>
                      </a:r>
                    </a:p>
                  </a:txBody>
                  <a:tcPr marL="87038" marR="87038" marT="43519" marB="43519">
                    <a:solidFill>
                      <a:srgbClr val="F0F4FF"/>
                    </a:solidFill>
                  </a:tcPr>
                </a:tc>
                <a:extLst>
                  <a:ext uri="{0D108BD9-81ED-4DB2-BD59-A6C34878D82A}">
                    <a16:rowId xmlns:a16="http://schemas.microsoft.com/office/drawing/2014/main" val="463937789"/>
                  </a:ext>
                </a:extLst>
              </a:tr>
              <a:tr h="543355">
                <a:tc>
                  <a:txBody>
                    <a:bodyPr/>
                    <a:lstStyle/>
                    <a:p>
                      <a:pPr algn="l">
                        <a:buNone/>
                      </a:pPr>
                      <a:r>
                        <a:rPr lang="en-IN" sz="2000" b="1" i="0" u="none">
                          <a:solidFill>
                            <a:srgbClr val="1A1A1A"/>
                          </a:solidFill>
                          <a:latin typeface="Aptos Narrow"/>
                        </a:rPr>
                        <a:t>Metadata Filtering</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Strong support</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Limited/manual</a:t>
                      </a:r>
                    </a:p>
                  </a:txBody>
                  <a:tcPr marL="87038" marR="87038" marT="43519" marB="43519">
                    <a:solidFill>
                      <a:srgbClr val="FFFFFF"/>
                    </a:solidFill>
                  </a:tcPr>
                </a:tc>
                <a:extLst>
                  <a:ext uri="{0D108BD9-81ED-4DB2-BD59-A6C34878D82A}">
                    <a16:rowId xmlns:a16="http://schemas.microsoft.com/office/drawing/2014/main" val="1902119077"/>
                  </a:ext>
                </a:extLst>
              </a:tr>
              <a:tr h="543355">
                <a:tc>
                  <a:txBody>
                    <a:bodyPr/>
                    <a:lstStyle/>
                    <a:p>
                      <a:pPr algn="l">
                        <a:buNone/>
                      </a:pPr>
                      <a:r>
                        <a:rPr lang="en-IN" sz="2000" b="1" i="0" u="none">
                          <a:solidFill>
                            <a:srgbClr val="1A1A1A"/>
                          </a:solidFill>
                          <a:latin typeface="Aptos Narrow"/>
                        </a:rPr>
                        <a:t>Best For</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RAG applications &amp; AI apps</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High-performance similarity search</a:t>
                      </a:r>
                    </a:p>
                  </a:txBody>
                  <a:tcPr marL="87038" marR="87038" marT="43519" marB="43519">
                    <a:solidFill>
                      <a:srgbClr val="F0F4FF"/>
                    </a:solidFill>
                  </a:tcPr>
                </a:tc>
                <a:extLst>
                  <a:ext uri="{0D108BD9-81ED-4DB2-BD59-A6C34878D82A}">
                    <a16:rowId xmlns:a16="http://schemas.microsoft.com/office/drawing/2014/main" val="2660893594"/>
                  </a:ext>
                </a:extLst>
              </a:tr>
              <a:tr h="543355">
                <a:tc>
                  <a:txBody>
                    <a:bodyPr/>
                    <a:lstStyle/>
                    <a:p>
                      <a:pPr algn="l">
                        <a:buNone/>
                      </a:pPr>
                      <a:r>
                        <a:rPr lang="en-IN" sz="2000" b="1" i="0" u="none">
                          <a:solidFill>
                            <a:srgbClr val="1A1A1A"/>
                          </a:solidFill>
                          <a:latin typeface="Aptos Narrow"/>
                        </a:rPr>
                        <a:t>Scalability</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Good for small-medium apps</a:t>
                      </a:r>
                    </a:p>
                  </a:txBody>
                  <a:tcPr marL="87038" marR="87038" marT="43519" marB="43519">
                    <a:solidFill>
                      <a:srgbClr val="FFFFFF"/>
                    </a:solidFill>
                  </a:tcPr>
                </a:tc>
                <a:tc>
                  <a:txBody>
                    <a:bodyPr/>
                    <a:lstStyle/>
                    <a:p>
                      <a:pPr algn="l">
                        <a:buNone/>
                      </a:pPr>
                      <a:r>
                        <a:rPr lang="en-US" sz="2000" b="0" i="0" u="none">
                          <a:solidFill>
                            <a:srgbClr val="1A1A1A"/>
                          </a:solidFill>
                          <a:latin typeface="Aptos Narrow"/>
                        </a:rPr>
                        <a:t>Excellent for very large vector search</a:t>
                      </a:r>
                    </a:p>
                  </a:txBody>
                  <a:tcPr marL="87038" marR="87038" marT="43519" marB="43519">
                    <a:solidFill>
                      <a:srgbClr val="FFFFFF"/>
                    </a:solidFill>
                  </a:tcPr>
                </a:tc>
                <a:extLst>
                  <a:ext uri="{0D108BD9-81ED-4DB2-BD59-A6C34878D82A}">
                    <a16:rowId xmlns:a16="http://schemas.microsoft.com/office/drawing/2014/main" val="1913257007"/>
                  </a:ext>
                </a:extLst>
              </a:tr>
              <a:tr h="543355">
                <a:tc>
                  <a:txBody>
                    <a:bodyPr/>
                    <a:lstStyle/>
                    <a:p>
                      <a:pPr algn="l">
                        <a:buNone/>
                      </a:pPr>
                      <a:r>
                        <a:rPr lang="en-IN" sz="2000" b="1" i="0" u="none">
                          <a:solidFill>
                            <a:srgbClr val="1A1A1A"/>
                          </a:solidFill>
                          <a:latin typeface="Aptos Narrow"/>
                        </a:rPr>
                        <a:t>API Style</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Database-like</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Library/algorithm-focused</a:t>
                      </a:r>
                    </a:p>
                  </a:txBody>
                  <a:tcPr marL="87038" marR="87038" marT="43519" marB="43519">
                    <a:solidFill>
                      <a:srgbClr val="F0F4FF"/>
                    </a:solidFill>
                  </a:tcPr>
                </a:tc>
                <a:extLst>
                  <a:ext uri="{0D108BD9-81ED-4DB2-BD59-A6C34878D82A}">
                    <a16:rowId xmlns:a16="http://schemas.microsoft.com/office/drawing/2014/main" val="1087611245"/>
                  </a:ext>
                </a:extLst>
              </a:tr>
              <a:tr h="543355">
                <a:tc>
                  <a:txBody>
                    <a:bodyPr/>
                    <a:lstStyle/>
                    <a:p>
                      <a:pPr algn="l">
                        <a:buNone/>
                      </a:pPr>
                      <a:r>
                        <a:rPr lang="en-IN" sz="2000" b="1" i="0" u="none">
                          <a:solidFill>
                            <a:srgbClr val="1A1A1A"/>
                          </a:solidFill>
                          <a:latin typeface="Aptos Narrow"/>
                        </a:rPr>
                        <a:t>Setup</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Quick and simple</a:t>
                      </a:r>
                    </a:p>
                  </a:txBody>
                  <a:tcPr marL="87038" marR="87038" marT="43519" marB="43519">
                    <a:solidFill>
                      <a:srgbClr val="F0F4FF"/>
                    </a:solidFill>
                  </a:tcPr>
                </a:tc>
                <a:tc>
                  <a:txBody>
                    <a:bodyPr/>
                    <a:lstStyle/>
                    <a:p>
                      <a:pPr algn="l">
                        <a:buNone/>
                      </a:pPr>
                      <a:r>
                        <a:rPr lang="en-IN" sz="2000" b="0" i="0" u="none">
                          <a:solidFill>
                            <a:srgbClr val="1A1A1A"/>
                          </a:solidFill>
                          <a:latin typeface="Aptos Narrow"/>
                        </a:rPr>
                        <a:t>More engineering effort</a:t>
                      </a:r>
                    </a:p>
                  </a:txBody>
                  <a:tcPr marL="87038" marR="87038" marT="43519" marB="43519">
                    <a:solidFill>
                      <a:srgbClr val="F0F4FF"/>
                    </a:solidFill>
                  </a:tcPr>
                </a:tc>
                <a:extLst>
                  <a:ext uri="{0D108BD9-81ED-4DB2-BD59-A6C34878D82A}">
                    <a16:rowId xmlns:a16="http://schemas.microsoft.com/office/drawing/2014/main" val="1706807586"/>
                  </a:ext>
                </a:extLst>
              </a:tr>
              <a:tr h="543355">
                <a:tc>
                  <a:txBody>
                    <a:bodyPr/>
                    <a:lstStyle/>
                    <a:p>
                      <a:pPr algn="l">
                        <a:buNone/>
                      </a:pPr>
                      <a:r>
                        <a:rPr lang="en-IN" sz="2000" b="1" i="0" u="none">
                          <a:solidFill>
                            <a:srgbClr val="1A1A1A"/>
                          </a:solidFill>
                          <a:latin typeface="Aptos Narrow"/>
                        </a:rPr>
                        <a:t>Industry Usage</a:t>
                      </a:r>
                    </a:p>
                  </a:txBody>
                  <a:tcPr marL="87038" marR="87038" marT="43519" marB="43519">
                    <a:solidFill>
                      <a:srgbClr val="FFFFFF"/>
                    </a:solidFill>
                  </a:tcPr>
                </a:tc>
                <a:tc>
                  <a:txBody>
                    <a:bodyPr/>
                    <a:lstStyle/>
                    <a:p>
                      <a:pPr algn="l">
                        <a:buNone/>
                      </a:pPr>
                      <a:r>
                        <a:rPr lang="en-IN" sz="2000" b="0" i="0" u="none">
                          <a:solidFill>
                            <a:srgbClr val="1A1A1A"/>
                          </a:solidFill>
                          <a:latin typeface="Aptos Narrow"/>
                        </a:rPr>
                        <a:t>AI app prototyping/startups</a:t>
                      </a:r>
                    </a:p>
                  </a:txBody>
                  <a:tcPr marL="87038" marR="87038" marT="43519" marB="43519">
                    <a:solidFill>
                      <a:srgbClr val="FFFFFF"/>
                    </a:solidFill>
                  </a:tcPr>
                </a:tc>
                <a:tc>
                  <a:txBody>
                    <a:bodyPr/>
                    <a:lstStyle/>
                    <a:p>
                      <a:pPr algn="l">
                        <a:buNone/>
                      </a:pPr>
                      <a:r>
                        <a:rPr lang="en-IN" sz="2000" b="0" i="0" u="none" dirty="0">
                          <a:solidFill>
                            <a:srgbClr val="1A1A1A"/>
                          </a:solidFill>
                          <a:latin typeface="Aptos Narrow"/>
                        </a:rPr>
                        <a:t>Large-scale search/research systems</a:t>
                      </a:r>
                    </a:p>
                  </a:txBody>
                  <a:tcPr marL="87038" marR="87038" marT="43519" marB="43519">
                    <a:solidFill>
                      <a:srgbClr val="FFFFFF"/>
                    </a:solidFill>
                  </a:tcPr>
                </a:tc>
                <a:extLst>
                  <a:ext uri="{0D108BD9-81ED-4DB2-BD59-A6C34878D82A}">
                    <a16:rowId xmlns:a16="http://schemas.microsoft.com/office/drawing/2014/main" val="2206013713"/>
                  </a:ext>
                </a:extLst>
              </a:tr>
            </a:tbl>
          </a:graphicData>
        </a:graphic>
      </p:graphicFrame>
    </p:spTree>
    <p:extLst>
      <p:ext uri="{BB962C8B-B14F-4D97-AF65-F5344CB8AC3E}">
        <p14:creationId xmlns:p14="http://schemas.microsoft.com/office/powerpoint/2010/main" val="2551115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11274552" cy="868680"/>
          </a:xfrm>
          <a:prstGeom prst="rect">
            <a:avLst/>
          </a:prstGeom>
          <a:noFill/>
        </p:spPr>
        <p:txBody>
          <a:bodyPr wrap="none">
            <a:spAutoFit/>
          </a:bodyPr>
          <a:lstStyle/>
          <a:p>
            <a:pPr algn="l">
              <a:spcBef>
                <a:spcPts val="0"/>
              </a:spcBef>
            </a:pPr>
            <a:r>
              <a:rPr sz="3000" b="1">
                <a:solidFill>
                  <a:srgbClr val="1C395E"/>
                </a:solidFill>
                <a:latin typeface="Aptos Narrow"/>
              </a:rPr>
              <a:t>Day 4 Wrap — Three Things You Now Know</a:t>
            </a:r>
          </a:p>
        </p:txBody>
      </p:sp>
      <p:sp>
        <p:nvSpPr>
          <p:cNvPr id="3" name="Rectangle 2"/>
          <p:cNvSpPr/>
          <p:nvPr/>
        </p:nvSpPr>
        <p:spPr>
          <a:xfrm>
            <a:off x="457200" y="987552"/>
            <a:ext cx="11274552" cy="34747"/>
          </a:xfrm>
          <a:prstGeom prst="rect">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0"/>
            <a:ext cx="11274552" cy="4529445"/>
          </a:xfrm>
          <a:prstGeom prst="rect">
            <a:avLst/>
          </a:prstGeom>
          <a:noFill/>
        </p:spPr>
        <p:txBody>
          <a:bodyPr wrap="square">
            <a:spAutoFit/>
          </a:bodyPr>
          <a:lstStyle/>
          <a:p>
            <a:pPr algn="l">
              <a:spcBef>
                <a:spcPts val="0"/>
              </a:spcBef>
            </a:pPr>
            <a:r>
              <a:rPr sz="2000" b="1">
                <a:solidFill>
                  <a:srgbClr val="1C395E"/>
                </a:solidFill>
                <a:latin typeface="Aptos Narrow"/>
              </a:rPr>
              <a:t>1.  </a:t>
            </a:r>
            <a:r>
              <a:rPr sz="2000" b="1" dirty="0">
                <a:solidFill>
                  <a:srgbClr val="1C395E"/>
                </a:solidFill>
                <a:latin typeface="Aptos Narrow"/>
              </a:rPr>
              <a:t>RAG is an engineering decision forced by economics — not a trend</a:t>
            </a:r>
          </a:p>
          <a:p>
            <a:pPr algn="l">
              <a:spcBef>
                <a:spcPts val="90"/>
              </a:spcBef>
            </a:pPr>
            <a:r>
              <a:rPr sz="2000" b="0" dirty="0">
                <a:solidFill>
                  <a:srgbClr val="1A1A1A"/>
                </a:solidFill>
                <a:latin typeface="Aptos Narrow"/>
              </a:rPr>
              <a:t>  •  Fine-tuning: too expensive, too slow, data leaves your network</a:t>
            </a:r>
          </a:p>
          <a:p>
            <a:pPr algn="l">
              <a:spcBef>
                <a:spcPts val="90"/>
              </a:spcBef>
            </a:pPr>
            <a:r>
              <a:rPr sz="2000" b="0" dirty="0">
                <a:solidFill>
                  <a:srgbClr val="1A1A1A"/>
                </a:solidFill>
                <a:latin typeface="Aptos Narrow"/>
              </a:rPr>
              <a:t>  •  Context stuffing: impossible at 28M tokens, ₹15 lakh/day if it were possible</a:t>
            </a:r>
          </a:p>
          <a:p>
            <a:pPr algn="l">
              <a:spcBef>
                <a:spcPts val="90"/>
              </a:spcBef>
            </a:pPr>
            <a:r>
              <a:rPr sz="2000" b="0" dirty="0">
                <a:solidFill>
                  <a:srgbClr val="1A1A1A"/>
                </a:solidFill>
                <a:latin typeface="Aptos Narrow"/>
              </a:rPr>
              <a:t>  •  RAG: the only architecture that scales with private, changing data</a:t>
            </a:r>
          </a:p>
          <a:p>
            <a:pPr algn="l">
              <a:spcBef>
                <a:spcPts val="40"/>
              </a:spcBef>
            </a:pPr>
            <a:endParaRPr sz="2000" b="0" dirty="0">
              <a:solidFill>
                <a:srgbClr val="1A1A1A"/>
              </a:solidFill>
              <a:latin typeface="Aptos Narrow"/>
            </a:endParaRPr>
          </a:p>
          <a:p>
            <a:pPr algn="l">
              <a:spcBef>
                <a:spcPts val="90"/>
              </a:spcBef>
            </a:pPr>
            <a:r>
              <a:rPr sz="2000" b="1" dirty="0">
                <a:solidFill>
                  <a:srgbClr val="1C395E"/>
                </a:solidFill>
                <a:latin typeface="Aptos Narrow"/>
              </a:rPr>
              <a:t>2.  Two pipelines with different jobs</a:t>
            </a:r>
          </a:p>
          <a:p>
            <a:pPr algn="l">
              <a:spcBef>
                <a:spcPts val="90"/>
              </a:spcBef>
            </a:pPr>
            <a:r>
              <a:rPr sz="2000" b="0" dirty="0">
                <a:solidFill>
                  <a:srgbClr val="1A1A1A"/>
                </a:solidFill>
                <a:latin typeface="Aptos Narrow"/>
              </a:rPr>
              <a:t>  •  Indexing: offline, tune carefully, run when docs change  —  chunk size is your biggest lever</a:t>
            </a:r>
          </a:p>
          <a:p>
            <a:pPr algn="l">
              <a:spcBef>
                <a:spcPts val="90"/>
              </a:spcBef>
            </a:pPr>
            <a:r>
              <a:rPr sz="2000" b="0" dirty="0">
                <a:solidFill>
                  <a:srgbClr val="1A1A1A"/>
                </a:solidFill>
                <a:latin typeface="Aptos Narrow"/>
              </a:rPr>
              <a:t>  •  Querying: online, tune k and re-ranking, add confidence gating to prevent hallucination</a:t>
            </a:r>
          </a:p>
          <a:p>
            <a:pPr algn="l">
              <a:spcBef>
                <a:spcPts val="40"/>
              </a:spcBef>
            </a:pPr>
            <a:endParaRPr sz="2000" b="0" dirty="0">
              <a:solidFill>
                <a:srgbClr val="1A1A1A"/>
              </a:solidFill>
              <a:latin typeface="Aptos Narrow"/>
            </a:endParaRPr>
          </a:p>
          <a:p>
            <a:pPr algn="l">
              <a:spcBef>
                <a:spcPts val="90"/>
              </a:spcBef>
            </a:pPr>
            <a:r>
              <a:rPr sz="2000" b="1" dirty="0">
                <a:solidFill>
                  <a:srgbClr val="1C395E"/>
                </a:solidFill>
                <a:latin typeface="Aptos Narrow"/>
              </a:rPr>
              <a:t>3.  You know what separates a college project from enterprise</a:t>
            </a:r>
          </a:p>
          <a:p>
            <a:pPr algn="l">
              <a:spcBef>
                <a:spcPts val="90"/>
              </a:spcBef>
            </a:pPr>
            <a:r>
              <a:rPr sz="2000" b="0" dirty="0">
                <a:solidFill>
                  <a:srgbClr val="1A1A1A"/>
                </a:solidFill>
                <a:latin typeface="Aptos Narrow"/>
              </a:rPr>
              <a:t>  •  Re-ranking  ·  incremental indexing  ·  access control  ·  RAGAs evaluation  ·  </a:t>
            </a:r>
            <a:r>
              <a:rPr sz="2000" b="0" dirty="0" err="1">
                <a:solidFill>
                  <a:srgbClr val="1A1A1A"/>
                </a:solidFill>
                <a:latin typeface="Aptos Narrow"/>
              </a:rPr>
              <a:t>LangSmith</a:t>
            </a:r>
            <a:r>
              <a:rPr sz="2000" b="0" dirty="0">
                <a:solidFill>
                  <a:srgbClr val="1A1A1A"/>
                </a:solidFill>
                <a:latin typeface="Aptos Narrow"/>
              </a:rPr>
              <a:t> tracing</a:t>
            </a:r>
          </a:p>
          <a:p>
            <a:pPr algn="l">
              <a:spcBef>
                <a:spcPts val="90"/>
              </a:spcBef>
            </a:pPr>
            <a:r>
              <a:rPr sz="2000" b="0" dirty="0">
                <a:solidFill>
                  <a:srgbClr val="1A1A1A"/>
                </a:solidFill>
                <a:latin typeface="Aptos Narrow"/>
              </a:rPr>
              <a:t>  •  When Sigmoid asks 'can we build a doc search chatbot?' — you know exactly what to answer</a:t>
            </a:r>
          </a:p>
          <a:p>
            <a:pPr algn="l">
              <a:spcBef>
                <a:spcPts val="40"/>
              </a:spcBef>
            </a:pPr>
            <a:endParaRPr sz="2000" b="0" dirty="0">
              <a:solidFill>
                <a:srgbClr val="1A1A1A"/>
              </a:solidFill>
              <a:latin typeface="Aptos Narrow"/>
            </a:endParaRPr>
          </a:p>
          <a:p>
            <a:pPr algn="l">
              <a:spcBef>
                <a:spcPts val="90"/>
              </a:spcBef>
            </a:pPr>
            <a:r>
              <a:rPr sz="2000" b="1" dirty="0">
                <a:solidFill>
                  <a:srgbClr val="1C395E"/>
                </a:solidFill>
                <a:latin typeface="Aptos Narrow"/>
              </a:rPr>
              <a:t>Tomorrow  —  Agents: when the LLM needs to take actions, not just retrieve and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7E6DD7-6958-4303-A069-B8F511E78469}">
  <we:reference id="WA200010001" version="1.0.0.1" store="Omex" storeType="OMEX"/>
  <we:alternateReferences>
    <we:reference id="WA200010001" version="1.0.0.1" store="WA200010001" storeType="OMEX"/>
  </we:alternateReferences>
  <we:properties>
    <we:property name="claude.fileId" value="&quot;cc9112ae-c002-4d19-ada7-c612630af25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463</TotalTime>
  <Words>2606</Words>
  <Application>Microsoft Office PowerPoint</Application>
  <PresentationFormat>Custom</PresentationFormat>
  <Paragraphs>444</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Anil Kumar S</cp:lastModifiedBy>
  <cp:revision>9</cp:revision>
  <dcterms:created xsi:type="dcterms:W3CDTF">2013-01-27T09:14:16Z</dcterms:created>
  <dcterms:modified xsi:type="dcterms:W3CDTF">2026-07-15T03:21:46Z</dcterms:modified>
  <cp:category/>
</cp:coreProperties>
</file>